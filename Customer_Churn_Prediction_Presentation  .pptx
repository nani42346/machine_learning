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0" d="100"/>
          <a:sy n="130" d="100"/>
        </p:scale>
        <p:origin x="8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039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predicts whether a telecom customer will leave the company, which is called churn. I used a customer dataset and cleaned it, explored it with graphs, and trained six machine learning models. I compared the models using Accuracy, Precision, Recall, F1 Score and cross-validation. Finally, I selected the best model and gave simple business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churn means a customer stops using a company's service. Winning a new customer costs more than keeping an old one, so companies want to know who may leave early. My objective is to build a model that predicts churn. The target column is Churn, where Yes means the customer may leave and No means the customer may stay.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184 rows and 13 columns, and it is messy on purpose, with missing values and wrong entries. It has 7 numeric features, 4 categorical features, a Customer ID and the target column Churn. Customer ID is not used for prediction. The target is almost balanced, with 97 customers who churned and 87 who stayed.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checked the raw data for missing values, duplicates and placeholder values like question marks. Numeric missing values were filled with the median and categorical ones with the most frequent value. Four duplicate rows were removed, and outliers were investigated instead of blindly deleted. Then categories were one-hot encoded and numbers were scaled, giving ML-ready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graphs come from my notebook. Monthly contracts have the highest churn at 62.5 percent, while 2 Year contracts have only 17.4 percent. Customers with low satisfaction scores like 1, 3 and 5 show around 67 to 69 percent churn, but the pattern is not perfectly smooth. Customers who churned also pay more on average and made more support calls.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lets computers learn patterns from data instead of following fixed rules. We give data to an algorithm, and the algorithm builds a model. The model can then make predictions on new data. In this project, the data is customer records and the prediction is whether a customer will churn.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learning means the model learns from data where the correct answer is already known. In my data, every customer already has a Churn label of Yes or No. If the output is a category, it is classification. If the output is a number, it is regression. Since churn is Yes or No, this project is a classification problem.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has only two outcomes, Yes or No, so this is a classification problem. Accuracy tells the overall correct predictions. Precision tells how many predicted churners really churned, and Recall tells how many actual churners we found. F1 balances Precision and Recall. The confusion matrix shows the right and wrong predictions, and ROC-AUC shows how well the model separates the two classes.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looks at the K most similar customers and lets them vote. In my notebook I used K equals 5, so the five nearest customers decide. A Decision Tree asks a series of yes or no questions on the features and splits the data step by step. It is easy to understand, but the tree in my notebook scored lower than KNN.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is many decision trees working together. Each tree looks at the customer data and gives its own prediction. The forest combines all the predictions, using a majority vote, to give the final churn prediction. In my notebook I used 100 trees with random state 42.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ensemble learning, which means we combine many models to get a better result. In Bagging, the models work independently and their predictions are combined. In Boosting, the models work one after another, and each new model tries to fix the errors of the previous one. Bagging works independently, while Boosting works sequentially.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AdaBoost stands for Adaptive Boosting. It builds models one after another and gives more focus to the difficult customers that earlier models got wrong. Gradient Boosting also builds models sequentially, using decision trees, and each new tree tries to reduce the previous errors. In my notebook AdaBoost had 61.11 percent accuracy and Gradient Boosting had 55.56 percent.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six models: Logistic Regression, KNN, Decision Tree, Random Forest, AdaBoost and Gradient Boosting. All were trained on the same 144 training customers and tested on 36 customers. I compared them with Accuracy, Precision, Recall, F1 and a 5-fold cross-validation score. KNN has the best F1 score, and Logistic Regression has the best cross-validation score.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selects the final model using F1 score and cross-validation. KNN gets the highest combined score of 0.6073, with the best F1 of 0.6512 and a high recall of 0.7368, so it finds most churn customers. Its errors are 10 false positives and 5 false negatives. The overall scores are modest because the dataset is small and messy, so the model should be improved with more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project I cleaned a messy churn dataset, explored it, and compared six supervised classification models. KNN was selected as the final model using F1 score and cross-validation. For the business, target high-risk customers, improve satisfaction, monitor support issues and run retention campaigns. The dataset is small, so more data can improve the results.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3" name="Shape 0"/>
          <p:cNvSpPr/>
          <p:nvPr/>
        </p:nvSpPr>
        <p:spPr>
          <a:xfrm>
            <a:off x="5760720" y="548640"/>
            <a:ext cx="3108960" cy="3108960"/>
          </a:xfrm>
          <a:prstGeom prst="ellipse">
            <a:avLst/>
          </a:prstGeom>
          <a:solidFill>
            <a:srgbClr val="16325C">
              <a:alpha val="30000"/>
            </a:srgbClr>
          </a:solidFill>
          <a:ln w="12700">
            <a:solidFill>
              <a:srgbClr val="16325C"/>
            </a:solidFill>
            <a:prstDash val="solid"/>
          </a:ln>
        </p:spPr>
        <p:txBody>
          <a:bodyPr/>
          <a:lstStyle/>
          <a:p>
            <a:endParaRPr lang="en-IN"/>
          </a:p>
        </p:txBody>
      </p:sp>
      <p:sp>
        <p:nvSpPr>
          <p:cNvPr id="4" name="Shape 1"/>
          <p:cNvSpPr/>
          <p:nvPr/>
        </p:nvSpPr>
        <p:spPr>
          <a:xfrm>
            <a:off x="6949440" y="2377440"/>
            <a:ext cx="2011680" cy="2011680"/>
          </a:xfrm>
          <a:prstGeom prst="ellipse">
            <a:avLst/>
          </a:prstGeom>
          <a:solidFill>
            <a:srgbClr val="14B8A6">
              <a:alpha val="30000"/>
            </a:srgbClr>
          </a:solidFill>
          <a:ln w="12700">
            <a:solidFill>
              <a:srgbClr val="14B8A6"/>
            </a:solidFill>
            <a:prstDash val="solid"/>
          </a:ln>
        </p:spPr>
        <p:txBody>
          <a:bodyPr/>
          <a:lstStyle/>
          <a:p>
            <a:endParaRPr lang="en-IN"/>
          </a:p>
        </p:txBody>
      </p:sp>
      <p:sp>
        <p:nvSpPr>
          <p:cNvPr id="5" name="Shape 2"/>
          <p:cNvSpPr/>
          <p:nvPr/>
        </p:nvSpPr>
        <p:spPr>
          <a:xfrm>
            <a:off x="6172200" y="960120"/>
            <a:ext cx="1188720" cy="2103120"/>
          </a:xfrm>
          <a:prstGeom prst="line">
            <a:avLst/>
          </a:prstGeom>
          <a:noFill/>
          <a:ln w="12700">
            <a:solidFill>
              <a:srgbClr val="5B6B82"/>
            </a:solidFill>
            <a:prstDash val="solid"/>
          </a:ln>
        </p:spPr>
        <p:txBody>
          <a:bodyPr/>
          <a:lstStyle/>
          <a:p>
            <a:endParaRPr lang="en-IN"/>
          </a:p>
        </p:txBody>
      </p:sp>
      <p:sp>
        <p:nvSpPr>
          <p:cNvPr id="6" name="Shape 3"/>
          <p:cNvSpPr/>
          <p:nvPr/>
        </p:nvSpPr>
        <p:spPr>
          <a:xfrm>
            <a:off x="6035040" y="822960"/>
            <a:ext cx="274320" cy="274320"/>
          </a:xfrm>
          <a:prstGeom prst="ellipse">
            <a:avLst/>
          </a:prstGeom>
          <a:solidFill>
            <a:srgbClr val="FFFFFF"/>
          </a:solidFill>
          <a:ln w="25400">
            <a:solidFill>
              <a:srgbClr val="14B8A6"/>
            </a:solidFill>
            <a:prstDash val="solid"/>
          </a:ln>
        </p:spPr>
        <p:txBody>
          <a:bodyPr/>
          <a:lstStyle/>
          <a:p>
            <a:endParaRPr lang="en-IN"/>
          </a:p>
        </p:txBody>
      </p:sp>
      <p:sp>
        <p:nvSpPr>
          <p:cNvPr id="7" name="Shape 4"/>
          <p:cNvSpPr/>
          <p:nvPr/>
        </p:nvSpPr>
        <p:spPr>
          <a:xfrm flipH="1">
            <a:off x="7360920" y="1234440"/>
            <a:ext cx="914400" cy="1828800"/>
          </a:xfrm>
          <a:prstGeom prst="line">
            <a:avLst/>
          </a:prstGeom>
          <a:noFill/>
          <a:ln w="12700">
            <a:solidFill>
              <a:srgbClr val="5B6B82"/>
            </a:solidFill>
            <a:prstDash val="solid"/>
          </a:ln>
        </p:spPr>
        <p:txBody>
          <a:bodyPr/>
          <a:lstStyle/>
          <a:p>
            <a:endParaRPr lang="en-IN"/>
          </a:p>
        </p:txBody>
      </p:sp>
      <p:sp>
        <p:nvSpPr>
          <p:cNvPr id="8" name="Shape 5"/>
          <p:cNvSpPr/>
          <p:nvPr/>
        </p:nvSpPr>
        <p:spPr>
          <a:xfrm>
            <a:off x="8138160" y="1097280"/>
            <a:ext cx="274320" cy="274320"/>
          </a:xfrm>
          <a:prstGeom prst="ellipse">
            <a:avLst/>
          </a:prstGeom>
          <a:solidFill>
            <a:srgbClr val="FFFFFF"/>
          </a:solidFill>
          <a:ln w="25400">
            <a:solidFill>
              <a:srgbClr val="14B8A6"/>
            </a:solidFill>
            <a:prstDash val="solid"/>
          </a:ln>
        </p:spPr>
        <p:txBody>
          <a:bodyPr/>
          <a:lstStyle/>
          <a:p>
            <a:endParaRPr lang="en-IN"/>
          </a:p>
        </p:txBody>
      </p:sp>
      <p:sp>
        <p:nvSpPr>
          <p:cNvPr id="9" name="Shape 6"/>
          <p:cNvSpPr/>
          <p:nvPr/>
        </p:nvSpPr>
        <p:spPr>
          <a:xfrm flipH="1" flipV="1">
            <a:off x="7360920" y="3063240"/>
            <a:ext cx="1005840" cy="365760"/>
          </a:xfrm>
          <a:prstGeom prst="line">
            <a:avLst/>
          </a:prstGeom>
          <a:noFill/>
          <a:ln w="12700">
            <a:solidFill>
              <a:srgbClr val="5B6B82"/>
            </a:solidFill>
            <a:prstDash val="solid"/>
          </a:ln>
        </p:spPr>
        <p:txBody>
          <a:bodyPr/>
          <a:lstStyle/>
          <a:p>
            <a:endParaRPr lang="en-IN"/>
          </a:p>
        </p:txBody>
      </p:sp>
      <p:sp>
        <p:nvSpPr>
          <p:cNvPr id="10" name="Shape 7"/>
          <p:cNvSpPr/>
          <p:nvPr/>
        </p:nvSpPr>
        <p:spPr>
          <a:xfrm>
            <a:off x="8229600" y="3291840"/>
            <a:ext cx="274320" cy="274320"/>
          </a:xfrm>
          <a:prstGeom prst="ellipse">
            <a:avLst/>
          </a:prstGeom>
          <a:solidFill>
            <a:srgbClr val="FFFFFF"/>
          </a:solidFill>
          <a:ln w="25400">
            <a:solidFill>
              <a:srgbClr val="14B8A6"/>
            </a:solidFill>
            <a:prstDash val="solid"/>
          </a:ln>
        </p:spPr>
        <p:txBody>
          <a:bodyPr/>
          <a:lstStyle/>
          <a:p>
            <a:endParaRPr lang="en-IN"/>
          </a:p>
        </p:txBody>
      </p:sp>
      <p:sp>
        <p:nvSpPr>
          <p:cNvPr id="11" name="Shape 8"/>
          <p:cNvSpPr/>
          <p:nvPr/>
        </p:nvSpPr>
        <p:spPr>
          <a:xfrm flipV="1">
            <a:off x="6080760" y="3063240"/>
            <a:ext cx="1280160" cy="640080"/>
          </a:xfrm>
          <a:prstGeom prst="line">
            <a:avLst/>
          </a:prstGeom>
          <a:noFill/>
          <a:ln w="12700">
            <a:solidFill>
              <a:srgbClr val="5B6B82"/>
            </a:solidFill>
            <a:prstDash val="solid"/>
          </a:ln>
        </p:spPr>
        <p:txBody>
          <a:bodyPr/>
          <a:lstStyle/>
          <a:p>
            <a:endParaRPr lang="en-IN"/>
          </a:p>
        </p:txBody>
      </p:sp>
      <p:sp>
        <p:nvSpPr>
          <p:cNvPr id="12" name="Shape 9"/>
          <p:cNvSpPr/>
          <p:nvPr/>
        </p:nvSpPr>
        <p:spPr>
          <a:xfrm>
            <a:off x="5943600" y="3566160"/>
            <a:ext cx="274320" cy="274320"/>
          </a:xfrm>
          <a:prstGeom prst="ellipse">
            <a:avLst/>
          </a:prstGeom>
          <a:solidFill>
            <a:srgbClr val="FFFFFF"/>
          </a:solidFill>
          <a:ln w="25400">
            <a:solidFill>
              <a:srgbClr val="14B8A6"/>
            </a:solidFill>
            <a:prstDash val="solid"/>
          </a:ln>
        </p:spPr>
        <p:txBody>
          <a:bodyPr/>
          <a:lstStyle/>
          <a:p>
            <a:endParaRPr lang="en-IN"/>
          </a:p>
        </p:txBody>
      </p:sp>
      <p:sp>
        <p:nvSpPr>
          <p:cNvPr id="13" name="Shape 10"/>
          <p:cNvSpPr/>
          <p:nvPr/>
        </p:nvSpPr>
        <p:spPr>
          <a:xfrm flipV="1">
            <a:off x="7269480" y="3063240"/>
            <a:ext cx="91440" cy="1188720"/>
          </a:xfrm>
          <a:prstGeom prst="line">
            <a:avLst/>
          </a:prstGeom>
          <a:noFill/>
          <a:ln w="12700">
            <a:solidFill>
              <a:srgbClr val="5B6B82"/>
            </a:solidFill>
            <a:prstDash val="solid"/>
          </a:ln>
        </p:spPr>
        <p:txBody>
          <a:bodyPr/>
          <a:lstStyle/>
          <a:p>
            <a:endParaRPr lang="en-IN"/>
          </a:p>
        </p:txBody>
      </p:sp>
      <p:sp>
        <p:nvSpPr>
          <p:cNvPr id="14" name="Shape 11"/>
          <p:cNvSpPr/>
          <p:nvPr/>
        </p:nvSpPr>
        <p:spPr>
          <a:xfrm>
            <a:off x="7132320" y="4114800"/>
            <a:ext cx="274320" cy="274320"/>
          </a:xfrm>
          <a:prstGeom prst="ellipse">
            <a:avLst/>
          </a:prstGeom>
          <a:solidFill>
            <a:srgbClr val="FFFFFF"/>
          </a:solidFill>
          <a:ln w="25400">
            <a:solidFill>
              <a:srgbClr val="14B8A6"/>
            </a:solidFill>
            <a:prstDash val="solid"/>
          </a:ln>
        </p:spPr>
        <p:txBody>
          <a:bodyPr/>
          <a:lstStyle/>
          <a:p>
            <a:endParaRPr lang="en-IN"/>
          </a:p>
        </p:txBody>
      </p:sp>
      <p:sp>
        <p:nvSpPr>
          <p:cNvPr id="15" name="Shape 12"/>
          <p:cNvSpPr/>
          <p:nvPr/>
        </p:nvSpPr>
        <p:spPr>
          <a:xfrm>
            <a:off x="6903720" y="2606040"/>
            <a:ext cx="914400" cy="914400"/>
          </a:xfrm>
          <a:prstGeom prst="ellipse">
            <a:avLst/>
          </a:prstGeom>
          <a:solidFill>
            <a:srgbClr val="14B8A6"/>
          </a:solidFill>
          <a:ln w="25400">
            <a:solidFill>
              <a:srgbClr val="FFFFFF"/>
            </a:solidFill>
            <a:prstDash val="solid"/>
          </a:ln>
        </p:spPr>
        <p:txBody>
          <a:bodyPr/>
          <a:lstStyle/>
          <a:p>
            <a:endParaRPr lang="en-IN"/>
          </a:p>
        </p:txBody>
      </p:sp>
      <p:sp>
        <p:nvSpPr>
          <p:cNvPr id="16" name="Text 13"/>
          <p:cNvSpPr txBox="1"/>
          <p:nvPr/>
        </p:nvSpPr>
        <p:spPr>
          <a:xfrm>
            <a:off x="6903720" y="2606040"/>
            <a:ext cx="914400" cy="914400"/>
          </a:xfrm>
          <a:prstGeom prst="rect">
            <a:avLst/>
          </a:prstGeom>
          <a:noFill/>
          <a:ln/>
        </p:spPr>
        <p:txBody>
          <a:bodyPr wrap="square" lIns="0" tIns="0" rIns="0" bIns="0" rtlCol="0" anchor="ctr"/>
          <a:lstStyle/>
          <a:p>
            <a:pPr marL="0" indent="0" algn="ctr">
              <a:buNone/>
            </a:pPr>
            <a:r>
              <a:rPr lang="en-US" sz="2600" b="1" dirty="0">
                <a:solidFill>
                  <a:srgbClr val="0B1F3A"/>
                </a:solidFill>
                <a:latin typeface="Cambria" pitchFamily="34" charset="0"/>
                <a:ea typeface="Cambria" pitchFamily="34" charset="-122"/>
                <a:cs typeface="Cambria" pitchFamily="34" charset="-120"/>
              </a:rPr>
              <a:t>AI</a:t>
            </a:r>
            <a:endParaRPr lang="en-US" sz="2600" dirty="0"/>
          </a:p>
        </p:txBody>
      </p:sp>
      <p:sp>
        <p:nvSpPr>
          <p:cNvPr id="17" name="Text 14"/>
          <p:cNvSpPr txBox="1"/>
          <p:nvPr/>
        </p:nvSpPr>
        <p:spPr>
          <a:xfrm>
            <a:off x="7680960" y="1828800"/>
            <a:ext cx="1005840" cy="365760"/>
          </a:xfrm>
          <a:prstGeom prst="roundRect">
            <a:avLst>
              <a:gd name="adj" fmla="val 20000"/>
            </a:avLst>
          </a:prstGeom>
          <a:solidFill>
            <a:srgbClr val="F25F5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Churn: Yes</a:t>
            </a:r>
            <a:endParaRPr lang="en-US" sz="1200" dirty="0"/>
          </a:p>
        </p:txBody>
      </p:sp>
      <p:sp>
        <p:nvSpPr>
          <p:cNvPr id="18" name="Text 15"/>
          <p:cNvSpPr txBox="1"/>
          <p:nvPr/>
        </p:nvSpPr>
        <p:spPr>
          <a:xfrm>
            <a:off x="5943600" y="2103120"/>
            <a:ext cx="914400" cy="365760"/>
          </a:xfrm>
          <a:prstGeom prst="roundRect">
            <a:avLst>
              <a:gd name="adj" fmla="val 20000"/>
            </a:avLst>
          </a:prstGeom>
          <a:solidFill>
            <a:srgbClr val="14B8A6"/>
          </a:solidFill>
          <a:ln/>
        </p:spPr>
        <p:txBody>
          <a:bodyPr wrap="square" lIns="635" tIns="635" rIns="635" bIns="635"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Churn: No</a:t>
            </a:r>
            <a:endParaRPr lang="en-US" sz="1200" dirty="0"/>
          </a:p>
        </p:txBody>
      </p:sp>
      <p:sp>
        <p:nvSpPr>
          <p:cNvPr id="19" name="Text 16"/>
          <p:cNvSpPr txBox="1"/>
          <p:nvPr/>
        </p:nvSpPr>
        <p:spPr>
          <a:xfrm>
            <a:off x="548640" y="1005840"/>
            <a:ext cx="5212080" cy="15544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Customer Churn Prediction Using Supervised Machine Learning</a:t>
            </a:r>
            <a:endParaRPr lang="en-US" sz="3200" dirty="0"/>
          </a:p>
        </p:txBody>
      </p:sp>
      <p:sp>
        <p:nvSpPr>
          <p:cNvPr id="20" name="Text 17"/>
          <p:cNvSpPr txBox="1"/>
          <p:nvPr/>
        </p:nvSpPr>
        <p:spPr>
          <a:xfrm>
            <a:off x="548640" y="2743200"/>
            <a:ext cx="4937760" cy="640080"/>
          </a:xfrm>
          <a:prstGeom prst="rect">
            <a:avLst/>
          </a:prstGeom>
          <a:noFill/>
          <a:ln/>
        </p:spPr>
        <p:txBody>
          <a:bodyPr wrap="square" lIns="0" tIns="0" rIns="0" bIns="0" rtlCol="0" anchor="t"/>
          <a:lstStyle/>
          <a:p>
            <a:pPr marL="0" indent="0">
              <a:buNone/>
            </a:pPr>
            <a:r>
              <a:rPr lang="en-US" sz="1600" dirty="0">
                <a:solidFill>
                  <a:srgbClr val="9FE7DE"/>
                </a:solidFill>
                <a:latin typeface="Calibri" pitchFamily="34" charset="0"/>
                <a:ea typeface="Calibri" pitchFamily="34" charset="-122"/>
                <a:cs typeface="Calibri" pitchFamily="34" charset="-120"/>
              </a:rPr>
              <a:t>Classification, KNN, Bagging, AdaBoost and Gradient Boosting</a:t>
            </a:r>
            <a:endParaRPr lang="en-US" sz="1600" dirty="0"/>
          </a:p>
        </p:txBody>
      </p:sp>
      <p:sp>
        <p:nvSpPr>
          <p:cNvPr id="21" name="Text 18"/>
          <p:cNvSpPr txBox="1"/>
          <p:nvPr/>
        </p:nvSpPr>
        <p:spPr>
          <a:xfrm>
            <a:off x="548640" y="3749040"/>
            <a:ext cx="3657600" cy="731520"/>
          </a:xfrm>
          <a:prstGeom prst="rect">
            <a:avLst/>
          </a:prstGeom>
          <a:noFill/>
          <a:ln/>
        </p:spPr>
        <p:txBody>
          <a:bodyPr wrap="square" lIns="0" tIns="0" rIns="0" bIns="0" rtlCol="0" anchor="t"/>
          <a:lstStyle/>
          <a:p>
            <a:pPr marL="0" indent="0">
              <a:buNone/>
            </a:pPr>
            <a:r>
              <a:rPr lang="en-US" b="1" dirty="0">
                <a:solidFill>
                  <a:srgbClr val="FFFFFF"/>
                </a:solidFill>
                <a:latin typeface="Calibri" pitchFamily="34" charset="0"/>
                <a:ea typeface="Calibri" pitchFamily="34" charset="-122"/>
                <a:cs typeface="Calibri" pitchFamily="34" charset="-120"/>
              </a:rPr>
              <a:t>Presented by</a:t>
            </a:r>
          </a:p>
          <a:p>
            <a:pPr marL="0" indent="0">
              <a:buNone/>
            </a:pPr>
            <a:r>
              <a:rPr lang="en-US" b="1" dirty="0">
                <a:solidFill>
                  <a:srgbClr val="FFFFFF"/>
                </a:solidFill>
                <a:latin typeface="Calibri" pitchFamily="34" charset="0"/>
                <a:ea typeface="Calibri" pitchFamily="34" charset="-122"/>
                <a:cs typeface="Calibri" pitchFamily="34" charset="-120"/>
              </a:rPr>
              <a:t>D. Koteswara Rao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Business Problem &amp; Objective</a:t>
            </a:r>
            <a:endParaRPr lang="en-US" sz="2800" dirty="0"/>
          </a:p>
        </p:txBody>
      </p:sp>
      <p:sp>
        <p:nvSpPr>
          <p:cNvPr id="4" name="Shape 1"/>
          <p:cNvSpPr/>
          <p:nvPr/>
        </p:nvSpPr>
        <p:spPr>
          <a:xfrm>
            <a:off x="457200" y="1051560"/>
            <a:ext cx="4846320" cy="960120"/>
          </a:xfrm>
          <a:prstGeom prst="roundRect">
            <a:avLst>
              <a:gd name="adj" fmla="val 761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5" name="Text 2"/>
          <p:cNvSpPr txBox="1"/>
          <p:nvPr/>
        </p:nvSpPr>
        <p:spPr>
          <a:xfrm>
            <a:off x="640080" y="1161288"/>
            <a:ext cx="4480560" cy="77724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What is customer churn?</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A customer stops using the company's service and leaves.</a:t>
            </a:r>
            <a:endParaRPr lang="en-US" sz="1200" dirty="0"/>
          </a:p>
        </p:txBody>
      </p:sp>
      <p:sp>
        <p:nvSpPr>
          <p:cNvPr id="6" name="Shape 3"/>
          <p:cNvSpPr/>
          <p:nvPr/>
        </p:nvSpPr>
        <p:spPr>
          <a:xfrm>
            <a:off x="457200" y="2148840"/>
            <a:ext cx="4846320" cy="960120"/>
          </a:xfrm>
          <a:prstGeom prst="roundRect">
            <a:avLst>
              <a:gd name="adj" fmla="val 761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7" name="Text 4"/>
          <p:cNvSpPr txBox="1"/>
          <p:nvPr/>
        </p:nvSpPr>
        <p:spPr>
          <a:xfrm>
            <a:off x="640080" y="2258568"/>
            <a:ext cx="4480560" cy="77724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Why predict churn?</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Companies can find at-risk customers early and try to keep them before they leave.</a:t>
            </a:r>
            <a:endParaRPr lang="en-US" sz="1200" dirty="0"/>
          </a:p>
        </p:txBody>
      </p:sp>
      <p:sp>
        <p:nvSpPr>
          <p:cNvPr id="8" name="Shape 5"/>
          <p:cNvSpPr/>
          <p:nvPr/>
        </p:nvSpPr>
        <p:spPr>
          <a:xfrm>
            <a:off x="457200" y="3246120"/>
            <a:ext cx="4846320" cy="960120"/>
          </a:xfrm>
          <a:prstGeom prst="roundRect">
            <a:avLst>
              <a:gd name="adj" fmla="val 761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9" name="Text 6"/>
          <p:cNvSpPr txBox="1"/>
          <p:nvPr/>
        </p:nvSpPr>
        <p:spPr>
          <a:xfrm>
            <a:off x="640080" y="3355848"/>
            <a:ext cx="4480560" cy="77724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Project objective</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Build a machine learning model that predicts whether a customer will churn or not.</a:t>
            </a:r>
            <a:endParaRPr lang="en-US" sz="1200" dirty="0"/>
          </a:p>
        </p:txBody>
      </p:sp>
      <p:sp>
        <p:nvSpPr>
          <p:cNvPr id="10" name="Shape 7"/>
          <p:cNvSpPr/>
          <p:nvPr/>
        </p:nvSpPr>
        <p:spPr>
          <a:xfrm>
            <a:off x="5577840" y="1051560"/>
            <a:ext cx="3108960" cy="3154680"/>
          </a:xfrm>
          <a:prstGeom prst="roundRect">
            <a:avLst>
              <a:gd name="adj" fmla="val 2353"/>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1" name="Text 8"/>
          <p:cNvSpPr txBox="1"/>
          <p:nvPr/>
        </p:nvSpPr>
        <p:spPr>
          <a:xfrm>
            <a:off x="5760720" y="1188720"/>
            <a:ext cx="2743200" cy="36576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Target variable: Churn</a:t>
            </a:r>
            <a:endParaRPr lang="en-US" sz="1500" dirty="0"/>
          </a:p>
        </p:txBody>
      </p:sp>
      <p:sp>
        <p:nvSpPr>
          <p:cNvPr id="12" name="Text 9"/>
          <p:cNvSpPr txBox="1"/>
          <p:nvPr/>
        </p:nvSpPr>
        <p:spPr>
          <a:xfrm>
            <a:off x="5760720" y="1737360"/>
            <a:ext cx="2743200" cy="1005840"/>
          </a:xfrm>
          <a:prstGeom prst="roundRect">
            <a:avLst>
              <a:gd name="adj" fmla="val 7273"/>
            </a:avLst>
          </a:prstGeom>
          <a:solidFill>
            <a:srgbClr val="F25F5C"/>
          </a:solidFill>
          <a:ln/>
        </p:spPr>
        <p:txBody>
          <a:bodyPr wrap="square" lIns="635" tIns="635" rIns="635" bIns="635"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Yes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Customer may leave</a:t>
            </a:r>
            <a:endParaRPr lang="en-US" sz="1200" dirty="0"/>
          </a:p>
        </p:txBody>
      </p:sp>
      <p:sp>
        <p:nvSpPr>
          <p:cNvPr id="13" name="Text 10"/>
          <p:cNvSpPr txBox="1"/>
          <p:nvPr/>
        </p:nvSpPr>
        <p:spPr>
          <a:xfrm>
            <a:off x="5760720" y="2926080"/>
            <a:ext cx="2743200" cy="1005840"/>
          </a:xfrm>
          <a:prstGeom prst="roundRect">
            <a:avLst>
              <a:gd name="adj" fmla="val 7273"/>
            </a:avLst>
          </a:prstGeom>
          <a:solidFill>
            <a:srgbClr val="14B8A6"/>
          </a:solidFill>
          <a:ln/>
        </p:spPr>
        <p:txBody>
          <a:bodyPr wrap="square" lIns="635" tIns="635" rIns="635" bIns="635" rtlCol="0" anchor="ctr"/>
          <a:lstStyle/>
          <a:p>
            <a:pPr marL="0" indent="0" algn="ctr">
              <a:buNone/>
            </a:pPr>
            <a:r>
              <a:rPr lang="en-US" sz="2200" b="1" dirty="0">
                <a:solidFill>
                  <a:srgbClr val="0B1F3A"/>
                </a:solidFill>
                <a:latin typeface="Calibri" pitchFamily="34" charset="0"/>
                <a:ea typeface="Calibri" pitchFamily="34" charset="-122"/>
                <a:cs typeface="Calibri" pitchFamily="34" charset="-120"/>
              </a:rPr>
              <a:t>No</a:t>
            </a:r>
            <a:endParaRPr lang="en-US" sz="1200" dirty="0"/>
          </a:p>
          <a:p>
            <a:pPr marL="0" indent="0" algn="ctr">
              <a:buNone/>
            </a:pPr>
            <a:r>
              <a:rPr lang="en-US" sz="1200" dirty="0">
                <a:solidFill>
                  <a:srgbClr val="0B1F3A"/>
                </a:solidFill>
                <a:latin typeface="Calibri" pitchFamily="34" charset="0"/>
                <a:ea typeface="Calibri" pitchFamily="34" charset="-122"/>
                <a:cs typeface="Calibri" pitchFamily="34" charset="-120"/>
              </a:rPr>
              <a:t>Customer may stay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Dataset Understanding</a:t>
            </a:r>
            <a:endParaRPr lang="en-US" sz="2800" dirty="0"/>
          </a:p>
        </p:txBody>
      </p:sp>
      <p:sp>
        <p:nvSpPr>
          <p:cNvPr id="4" name="Text 1"/>
          <p:cNvSpPr txBox="1"/>
          <p:nvPr/>
        </p:nvSpPr>
        <p:spPr>
          <a:xfrm>
            <a:off x="457200" y="1051560"/>
            <a:ext cx="2194560" cy="914400"/>
          </a:xfrm>
          <a:prstGeom prst="roundRect">
            <a:avLst>
              <a:gd name="adj" fmla="val 8000"/>
            </a:avLst>
          </a:prstGeom>
          <a:solidFill>
            <a:srgbClr val="0B1F3A"/>
          </a:solidFill>
          <a:ln/>
        </p:spPr>
        <p:txBody>
          <a:bodyPr wrap="square" lIns="635" tIns="635" rIns="635" bIns="635"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184</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Rows</a:t>
            </a:r>
            <a:endParaRPr lang="en-US" sz="1200" dirty="0"/>
          </a:p>
        </p:txBody>
      </p:sp>
      <p:sp>
        <p:nvSpPr>
          <p:cNvPr id="5" name="Text 2"/>
          <p:cNvSpPr txBox="1"/>
          <p:nvPr/>
        </p:nvSpPr>
        <p:spPr>
          <a:xfrm>
            <a:off x="2834640" y="1051560"/>
            <a:ext cx="2194560" cy="914400"/>
          </a:xfrm>
          <a:prstGeom prst="roundRect">
            <a:avLst>
              <a:gd name="adj" fmla="val 8000"/>
            </a:avLst>
          </a:prstGeom>
          <a:solidFill>
            <a:srgbClr val="16325C"/>
          </a:solidFill>
          <a:ln/>
        </p:spPr>
        <p:txBody>
          <a:bodyPr wrap="square" lIns="635" tIns="635" rIns="635" bIns="635"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13</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Columns</a:t>
            </a:r>
            <a:endParaRPr lang="en-US" sz="1200" dirty="0"/>
          </a:p>
        </p:txBody>
      </p:sp>
      <p:sp>
        <p:nvSpPr>
          <p:cNvPr id="6" name="Shape 3"/>
          <p:cNvSpPr/>
          <p:nvPr/>
        </p:nvSpPr>
        <p:spPr>
          <a:xfrm>
            <a:off x="457200" y="2148840"/>
            <a:ext cx="4572000" cy="2468880"/>
          </a:xfrm>
          <a:prstGeom prst="roundRect">
            <a:avLst>
              <a:gd name="adj" fmla="val 2963"/>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7" name="Text 4"/>
          <p:cNvSpPr txBox="1"/>
          <p:nvPr/>
        </p:nvSpPr>
        <p:spPr>
          <a:xfrm>
            <a:off x="640080" y="2286000"/>
            <a:ext cx="4206240" cy="21945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Numerical (7): </a:t>
            </a:r>
            <a:r>
              <a:rPr lang="en-US" sz="1150" dirty="0">
                <a:solidFill>
                  <a:srgbClr val="1B2A41"/>
                </a:solidFill>
                <a:latin typeface="Calibri" pitchFamily="34" charset="0"/>
                <a:ea typeface="Calibri" pitchFamily="34" charset="-122"/>
                <a:cs typeface="Calibri" pitchFamily="34" charset="-120"/>
              </a:rPr>
              <a:t>Age, Annual Income, Tenure, Monthly Charges, Support Calls, Data Usage, Satisfaction Score</a:t>
            </a:r>
            <a:endParaRPr lang="en-US" sz="1150" dirty="0"/>
          </a:p>
          <a:p>
            <a:pPr marL="0" indent="0">
              <a:buNone/>
            </a:pPr>
            <a:r>
              <a:rPr lang="en-US" sz="1150" b="1" dirty="0">
                <a:solidFill>
                  <a:srgbClr val="0B1F3A"/>
                </a:solidFill>
                <a:latin typeface="Calibri" pitchFamily="34" charset="0"/>
                <a:ea typeface="Calibri" pitchFamily="34" charset="-122"/>
                <a:cs typeface="Calibri" pitchFamily="34" charset="-120"/>
              </a:rPr>
              <a:t>Categorical (4): </a:t>
            </a:r>
            <a:r>
              <a:rPr lang="en-US" sz="1150" dirty="0">
                <a:solidFill>
                  <a:srgbClr val="1B2A41"/>
                </a:solidFill>
                <a:latin typeface="Calibri" pitchFamily="34" charset="0"/>
                <a:ea typeface="Calibri" pitchFamily="34" charset="-122"/>
                <a:cs typeface="Calibri" pitchFamily="34" charset="-120"/>
              </a:rPr>
              <a:t>Contract Type, Payment Method, Region, Plan Type</a:t>
            </a:r>
            <a:endParaRPr lang="en-US" sz="1150" dirty="0"/>
          </a:p>
          <a:p>
            <a:pPr marL="0" indent="0">
              <a:buNone/>
            </a:pPr>
            <a:r>
              <a:rPr lang="en-US" sz="1150" b="1" dirty="0">
                <a:solidFill>
                  <a:srgbClr val="F25F5C"/>
                </a:solidFill>
                <a:latin typeface="Calibri" pitchFamily="34" charset="0"/>
                <a:ea typeface="Calibri" pitchFamily="34" charset="-122"/>
                <a:cs typeface="Calibri" pitchFamily="34" charset="-120"/>
              </a:rPr>
              <a:t>Target: </a:t>
            </a:r>
            <a:r>
              <a:rPr lang="en-US" sz="1150" dirty="0">
                <a:solidFill>
                  <a:srgbClr val="1B2A41"/>
                </a:solidFill>
                <a:latin typeface="Calibri" pitchFamily="34" charset="0"/>
                <a:ea typeface="Calibri" pitchFamily="34" charset="-122"/>
                <a:cs typeface="Calibri" pitchFamily="34" charset="-120"/>
              </a:rPr>
              <a:t>Churn (Yes / No).  </a:t>
            </a:r>
            <a:r>
              <a:rPr lang="en-US" sz="1150" b="1" dirty="0">
                <a:solidFill>
                  <a:srgbClr val="0B1F3A"/>
                </a:solidFill>
                <a:latin typeface="Calibri" pitchFamily="34" charset="0"/>
                <a:ea typeface="Calibri" pitchFamily="34" charset="-122"/>
                <a:cs typeface="Calibri" pitchFamily="34" charset="-120"/>
              </a:rPr>
              <a:t>ID: </a:t>
            </a:r>
            <a:r>
              <a:rPr lang="en-US" sz="1150" dirty="0">
                <a:solidFill>
                  <a:srgbClr val="1B2A41"/>
                </a:solidFill>
                <a:latin typeface="Calibri" pitchFamily="34" charset="0"/>
                <a:ea typeface="Calibri" pitchFamily="34" charset="-122"/>
                <a:cs typeface="Calibri" pitchFamily="34" charset="-120"/>
              </a:rPr>
              <a:t>Customer_ID (not used)</a:t>
            </a:r>
            <a:endParaRPr lang="en-US" sz="1150" dirty="0"/>
          </a:p>
          <a:p>
            <a:pPr marL="0" indent="0">
              <a:buNone/>
            </a:pPr>
            <a:r>
              <a:rPr lang="en-US" sz="1150" b="1" dirty="0">
                <a:solidFill>
                  <a:srgbClr val="0B1F3A"/>
                </a:solidFill>
                <a:latin typeface="Calibri" pitchFamily="34" charset="0"/>
                <a:ea typeface="Calibri" pitchFamily="34" charset="-122"/>
                <a:cs typeface="Calibri" pitchFamily="34" charset="-120"/>
              </a:rPr>
              <a:t>Data types: </a:t>
            </a:r>
            <a:r>
              <a:rPr lang="en-US" sz="1150" dirty="0">
                <a:solidFill>
                  <a:srgbClr val="1B2A41"/>
                </a:solidFill>
                <a:latin typeface="Calibri" pitchFamily="34" charset="0"/>
                <a:ea typeface="Calibri" pitchFamily="34" charset="-122"/>
                <a:cs typeface="Calibri" pitchFamily="34" charset="-120"/>
              </a:rPr>
              <a:t>6 float64, 7 object. Annual_Income loaded as text because of "?" values.</a:t>
            </a:r>
            <a:endParaRPr lang="en-US" sz="1150" dirty="0"/>
          </a:p>
        </p:txBody>
      </p:sp>
      <p:pic>
        <p:nvPicPr>
          <p:cNvPr id="8" name="Image 0" descr="/home/claude/img/pie.png"/>
          <p:cNvPicPr>
            <a:picLocks noChangeAspect="1"/>
          </p:cNvPicPr>
          <p:nvPr/>
        </p:nvPicPr>
        <p:blipFill>
          <a:blip r:embed="rId3"/>
          <a:stretch>
            <a:fillRect/>
          </a:stretch>
        </p:blipFill>
        <p:spPr>
          <a:xfrm>
            <a:off x="5440680" y="1005840"/>
            <a:ext cx="2990088" cy="3108960"/>
          </a:xfrm>
          <a:prstGeom prst="rect">
            <a:avLst/>
          </a:prstGeom>
        </p:spPr>
      </p:pic>
      <p:sp>
        <p:nvSpPr>
          <p:cNvPr id="9" name="Text 5"/>
          <p:cNvSpPr txBox="1"/>
          <p:nvPr/>
        </p:nvSpPr>
        <p:spPr>
          <a:xfrm>
            <a:off x="5212080" y="4206240"/>
            <a:ext cx="3474720" cy="365760"/>
          </a:xfrm>
          <a:prstGeom prst="rect">
            <a:avLst/>
          </a:prstGeom>
          <a:noFill/>
          <a:ln/>
        </p:spPr>
        <p:txBody>
          <a:bodyPr wrap="square" lIns="0" tIns="0" rIns="0" bIns="0" rtlCol="0" anchor="t"/>
          <a:lstStyle/>
          <a:p>
            <a:pPr marL="0" indent="0" algn="ctr">
              <a:buNone/>
            </a:pPr>
            <a:r>
              <a:rPr lang="en-US" sz="1300" b="1" dirty="0">
                <a:solidFill>
                  <a:srgbClr val="0B1F3A"/>
                </a:solidFill>
                <a:latin typeface="Calibri" pitchFamily="34" charset="0"/>
                <a:ea typeface="Calibri" pitchFamily="34" charset="-122"/>
                <a:cs typeface="Calibri" pitchFamily="34" charset="-120"/>
              </a:rPr>
              <a:t>Yes: 97 (52.7%)  |  No: 87 (47.3%)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Data Cleaning &amp; Preprocessing</a:t>
            </a:r>
            <a:endParaRPr lang="en-US" sz="2800" dirty="0"/>
          </a:p>
        </p:txBody>
      </p:sp>
      <p:sp>
        <p:nvSpPr>
          <p:cNvPr id="4" name="Text 1"/>
          <p:cNvSpPr txBox="1"/>
          <p:nvPr/>
        </p:nvSpPr>
        <p:spPr>
          <a:xfrm>
            <a:off x="457200" y="1005840"/>
            <a:ext cx="862149" cy="548640"/>
          </a:xfrm>
          <a:prstGeom prst="roundRect">
            <a:avLst>
              <a:gd name="adj" fmla="val 13333"/>
            </a:avLst>
          </a:prstGeom>
          <a:solidFill>
            <a:srgbClr val="0B1F3A"/>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Raw Data</a:t>
            </a:r>
            <a:endParaRPr lang="en-US" sz="1200" dirty="0"/>
          </a:p>
        </p:txBody>
      </p:sp>
      <p:sp>
        <p:nvSpPr>
          <p:cNvPr id="5" name="Shape 2"/>
          <p:cNvSpPr/>
          <p:nvPr/>
        </p:nvSpPr>
        <p:spPr>
          <a:xfrm>
            <a:off x="1355925" y="1280160"/>
            <a:ext cx="292608" cy="914"/>
          </a:xfrm>
          <a:prstGeom prst="line">
            <a:avLst/>
          </a:prstGeom>
          <a:noFill/>
          <a:ln w="19050">
            <a:solidFill>
              <a:srgbClr val="5B6B82"/>
            </a:solidFill>
            <a:prstDash val="solid"/>
            <a:tailEnd type="triangle"/>
          </a:ln>
        </p:spPr>
        <p:txBody>
          <a:bodyPr/>
          <a:lstStyle/>
          <a:p>
            <a:endParaRPr lang="en-IN"/>
          </a:p>
        </p:txBody>
      </p:sp>
      <p:sp>
        <p:nvSpPr>
          <p:cNvPr id="6" name="Text 3"/>
          <p:cNvSpPr txBox="1"/>
          <p:nvPr/>
        </p:nvSpPr>
        <p:spPr>
          <a:xfrm>
            <a:off x="1685109" y="1005840"/>
            <a:ext cx="862149"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Cleaning</a:t>
            </a:r>
            <a:endParaRPr lang="en-US" sz="1200" dirty="0"/>
          </a:p>
        </p:txBody>
      </p:sp>
      <p:sp>
        <p:nvSpPr>
          <p:cNvPr id="7" name="Shape 4"/>
          <p:cNvSpPr/>
          <p:nvPr/>
        </p:nvSpPr>
        <p:spPr>
          <a:xfrm>
            <a:off x="2583833" y="1280160"/>
            <a:ext cx="292608" cy="914"/>
          </a:xfrm>
          <a:prstGeom prst="line">
            <a:avLst/>
          </a:prstGeom>
          <a:noFill/>
          <a:ln w="19050">
            <a:solidFill>
              <a:srgbClr val="5B6B82"/>
            </a:solidFill>
            <a:prstDash val="solid"/>
            <a:tailEnd type="triangle"/>
          </a:ln>
        </p:spPr>
        <p:txBody>
          <a:bodyPr/>
          <a:lstStyle/>
          <a:p>
            <a:endParaRPr lang="en-IN"/>
          </a:p>
        </p:txBody>
      </p:sp>
      <p:sp>
        <p:nvSpPr>
          <p:cNvPr id="8" name="Text 5"/>
          <p:cNvSpPr txBox="1"/>
          <p:nvPr/>
        </p:nvSpPr>
        <p:spPr>
          <a:xfrm>
            <a:off x="2913017" y="1005840"/>
            <a:ext cx="862149"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Missing Values</a:t>
            </a:r>
            <a:endParaRPr lang="en-US" sz="1200" dirty="0"/>
          </a:p>
        </p:txBody>
      </p:sp>
      <p:sp>
        <p:nvSpPr>
          <p:cNvPr id="9" name="Shape 6"/>
          <p:cNvSpPr/>
          <p:nvPr/>
        </p:nvSpPr>
        <p:spPr>
          <a:xfrm>
            <a:off x="3811742" y="1280160"/>
            <a:ext cx="292608" cy="914"/>
          </a:xfrm>
          <a:prstGeom prst="line">
            <a:avLst/>
          </a:prstGeom>
          <a:noFill/>
          <a:ln w="19050">
            <a:solidFill>
              <a:srgbClr val="5B6B82"/>
            </a:solidFill>
            <a:prstDash val="solid"/>
            <a:tailEnd type="triangle"/>
          </a:ln>
        </p:spPr>
        <p:txBody>
          <a:bodyPr/>
          <a:lstStyle/>
          <a:p>
            <a:endParaRPr lang="en-IN"/>
          </a:p>
        </p:txBody>
      </p:sp>
      <p:sp>
        <p:nvSpPr>
          <p:cNvPr id="10" name="Text 7"/>
          <p:cNvSpPr txBox="1"/>
          <p:nvPr/>
        </p:nvSpPr>
        <p:spPr>
          <a:xfrm>
            <a:off x="4140926" y="1005840"/>
            <a:ext cx="862149"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Duplicates</a:t>
            </a:r>
            <a:endParaRPr lang="en-US" sz="1200" dirty="0"/>
          </a:p>
        </p:txBody>
      </p:sp>
      <p:sp>
        <p:nvSpPr>
          <p:cNvPr id="11" name="Shape 8"/>
          <p:cNvSpPr/>
          <p:nvPr/>
        </p:nvSpPr>
        <p:spPr>
          <a:xfrm>
            <a:off x="5039650" y="1280160"/>
            <a:ext cx="292608" cy="914"/>
          </a:xfrm>
          <a:prstGeom prst="line">
            <a:avLst/>
          </a:prstGeom>
          <a:noFill/>
          <a:ln w="19050">
            <a:solidFill>
              <a:srgbClr val="5B6B82"/>
            </a:solidFill>
            <a:prstDash val="solid"/>
            <a:tailEnd type="triangle"/>
          </a:ln>
        </p:spPr>
        <p:txBody>
          <a:bodyPr/>
          <a:lstStyle/>
          <a:p>
            <a:endParaRPr lang="en-IN"/>
          </a:p>
        </p:txBody>
      </p:sp>
      <p:sp>
        <p:nvSpPr>
          <p:cNvPr id="12" name="Text 9"/>
          <p:cNvSpPr txBox="1"/>
          <p:nvPr/>
        </p:nvSpPr>
        <p:spPr>
          <a:xfrm>
            <a:off x="5368834" y="1005840"/>
            <a:ext cx="862149"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Encoding</a:t>
            </a:r>
            <a:endParaRPr lang="en-US" sz="1200" dirty="0"/>
          </a:p>
        </p:txBody>
      </p:sp>
      <p:sp>
        <p:nvSpPr>
          <p:cNvPr id="13" name="Shape 10"/>
          <p:cNvSpPr/>
          <p:nvPr/>
        </p:nvSpPr>
        <p:spPr>
          <a:xfrm>
            <a:off x="6267559" y="1280160"/>
            <a:ext cx="292608" cy="914"/>
          </a:xfrm>
          <a:prstGeom prst="line">
            <a:avLst/>
          </a:prstGeom>
          <a:noFill/>
          <a:ln w="19050">
            <a:solidFill>
              <a:srgbClr val="5B6B82"/>
            </a:solidFill>
            <a:prstDash val="solid"/>
            <a:tailEnd type="triangle"/>
          </a:ln>
        </p:spPr>
        <p:txBody>
          <a:bodyPr/>
          <a:lstStyle/>
          <a:p>
            <a:endParaRPr lang="en-IN"/>
          </a:p>
        </p:txBody>
      </p:sp>
      <p:sp>
        <p:nvSpPr>
          <p:cNvPr id="14" name="Text 11"/>
          <p:cNvSpPr txBox="1"/>
          <p:nvPr/>
        </p:nvSpPr>
        <p:spPr>
          <a:xfrm>
            <a:off x="6596743" y="1005840"/>
            <a:ext cx="862149"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Scaling</a:t>
            </a:r>
            <a:endParaRPr lang="en-US" sz="1200" dirty="0"/>
          </a:p>
        </p:txBody>
      </p:sp>
      <p:sp>
        <p:nvSpPr>
          <p:cNvPr id="15" name="Shape 12"/>
          <p:cNvSpPr/>
          <p:nvPr/>
        </p:nvSpPr>
        <p:spPr>
          <a:xfrm>
            <a:off x="7495467" y="1280160"/>
            <a:ext cx="292608" cy="914"/>
          </a:xfrm>
          <a:prstGeom prst="line">
            <a:avLst/>
          </a:prstGeom>
          <a:noFill/>
          <a:ln w="19050">
            <a:solidFill>
              <a:srgbClr val="5B6B82"/>
            </a:solidFill>
            <a:prstDash val="solid"/>
            <a:tailEnd type="triangle"/>
          </a:ln>
        </p:spPr>
        <p:txBody>
          <a:bodyPr/>
          <a:lstStyle/>
          <a:p>
            <a:endParaRPr lang="en-IN"/>
          </a:p>
        </p:txBody>
      </p:sp>
      <p:sp>
        <p:nvSpPr>
          <p:cNvPr id="16" name="Text 13"/>
          <p:cNvSpPr txBox="1"/>
          <p:nvPr/>
        </p:nvSpPr>
        <p:spPr>
          <a:xfrm>
            <a:off x="7824651" y="1005840"/>
            <a:ext cx="862149" cy="548640"/>
          </a:xfrm>
          <a:prstGeom prst="roundRect">
            <a:avLst>
              <a:gd name="adj" fmla="val 13333"/>
            </a:avLst>
          </a:prstGeom>
          <a:solidFill>
            <a:srgbClr val="14B8A6"/>
          </a:solid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ML Ready Data</a:t>
            </a:r>
            <a:endParaRPr lang="en-US" sz="1200" dirty="0"/>
          </a:p>
        </p:txBody>
      </p:sp>
      <p:sp>
        <p:nvSpPr>
          <p:cNvPr id="17" name="Shape 14"/>
          <p:cNvSpPr/>
          <p:nvPr/>
        </p:nvSpPr>
        <p:spPr>
          <a:xfrm>
            <a:off x="457200" y="182880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8" name="Text 15"/>
          <p:cNvSpPr txBox="1"/>
          <p:nvPr/>
        </p:nvSpPr>
        <p:spPr>
          <a:xfrm>
            <a:off x="566928" y="193852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Missing values</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Found in 7 numeric columns (Age 8, Income 11...). Numeric: median. Categorical: most frequent.</a:t>
            </a:r>
            <a:endParaRPr lang="en-US" sz="1200" dirty="0"/>
          </a:p>
        </p:txBody>
      </p:sp>
      <p:sp>
        <p:nvSpPr>
          <p:cNvPr id="19" name="Shape 16"/>
          <p:cNvSpPr/>
          <p:nvPr/>
        </p:nvSpPr>
        <p:spPr>
          <a:xfrm>
            <a:off x="2560320" y="182880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0" name="Text 17"/>
          <p:cNvSpPr txBox="1"/>
          <p:nvPr/>
        </p:nvSpPr>
        <p:spPr>
          <a:xfrm>
            <a:off x="2670048" y="193852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Duplicates</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4 exact duplicate rows removed: 184 to 180 rows.</a:t>
            </a:r>
            <a:endParaRPr lang="en-US" sz="1200" dirty="0"/>
          </a:p>
        </p:txBody>
      </p:sp>
      <p:sp>
        <p:nvSpPr>
          <p:cNvPr id="21" name="Shape 18"/>
          <p:cNvSpPr/>
          <p:nvPr/>
        </p:nvSpPr>
        <p:spPr>
          <a:xfrm>
            <a:off x="4663440" y="182880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2" name="Text 19"/>
          <p:cNvSpPr txBox="1"/>
          <p:nvPr/>
        </p:nvSpPr>
        <p:spPr>
          <a:xfrm>
            <a:off x="4773168" y="193852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Placeholders</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N/A: 0, NA: 0, "?": 4 found. Treated as missing values.</a:t>
            </a:r>
            <a:endParaRPr lang="en-US" sz="1200" dirty="0"/>
          </a:p>
        </p:txBody>
      </p:sp>
      <p:sp>
        <p:nvSpPr>
          <p:cNvPr id="23" name="Shape 20"/>
          <p:cNvSpPr/>
          <p:nvPr/>
        </p:nvSpPr>
        <p:spPr>
          <a:xfrm>
            <a:off x="6766560" y="182880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4" name="Text 21"/>
          <p:cNvSpPr txBox="1"/>
          <p:nvPr/>
        </p:nvSpPr>
        <p:spPr>
          <a:xfrm>
            <a:off x="6876288" y="193852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Categorical cleaning</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Spaces and capitals standardised (MONTHLY, monthly to Monthly).</a:t>
            </a:r>
            <a:endParaRPr lang="en-US" sz="1200" dirty="0"/>
          </a:p>
        </p:txBody>
      </p:sp>
      <p:sp>
        <p:nvSpPr>
          <p:cNvPr id="25" name="Shape 22"/>
          <p:cNvSpPr/>
          <p:nvPr/>
        </p:nvSpPr>
        <p:spPr>
          <a:xfrm>
            <a:off x="457200" y="329184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6" name="Text 23"/>
          <p:cNvSpPr txBox="1"/>
          <p:nvPr/>
        </p:nvSpPr>
        <p:spPr>
          <a:xfrm>
            <a:off x="566928" y="340156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Outlier check</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IQR and box plots (Age 145, Monthly Charges 999). Investigated, not blindly deleted.</a:t>
            </a:r>
            <a:endParaRPr lang="en-US" sz="1200" dirty="0"/>
          </a:p>
        </p:txBody>
      </p:sp>
      <p:sp>
        <p:nvSpPr>
          <p:cNvPr id="27" name="Shape 24"/>
          <p:cNvSpPr/>
          <p:nvPr/>
        </p:nvSpPr>
        <p:spPr>
          <a:xfrm>
            <a:off x="2560320" y="329184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8" name="Text 25"/>
          <p:cNvSpPr txBox="1"/>
          <p:nvPr/>
        </p:nvSpPr>
        <p:spPr>
          <a:xfrm>
            <a:off x="2670048" y="340156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Encoding</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One-Hot for Contract, Payment, Region, Plan. Churn: No = 0, Yes = 1.</a:t>
            </a:r>
            <a:endParaRPr lang="en-US" sz="1200" dirty="0"/>
          </a:p>
        </p:txBody>
      </p:sp>
      <p:sp>
        <p:nvSpPr>
          <p:cNvPr id="29" name="Shape 26"/>
          <p:cNvSpPr/>
          <p:nvPr/>
        </p:nvSpPr>
        <p:spPr>
          <a:xfrm>
            <a:off x="4663440" y="329184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30" name="Text 27"/>
          <p:cNvSpPr txBox="1"/>
          <p:nvPr/>
        </p:nvSpPr>
        <p:spPr>
          <a:xfrm>
            <a:off x="4773168" y="340156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Scaling</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StandardScaler on 7 numeric features, fitted on training data only.</a:t>
            </a:r>
            <a:endParaRPr lang="en-US" sz="1200" dirty="0"/>
          </a:p>
        </p:txBody>
      </p:sp>
      <p:sp>
        <p:nvSpPr>
          <p:cNvPr id="31" name="Shape 28"/>
          <p:cNvSpPr/>
          <p:nvPr/>
        </p:nvSpPr>
        <p:spPr>
          <a:xfrm>
            <a:off x="6766560" y="3291840"/>
            <a:ext cx="19659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32" name="Text 29"/>
          <p:cNvSpPr txBox="1"/>
          <p:nvPr/>
        </p:nvSpPr>
        <p:spPr>
          <a:xfrm>
            <a:off x="6876288" y="3401568"/>
            <a:ext cx="1755648" cy="114300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Train / Test split</a:t>
            </a:r>
            <a:endParaRPr lang="en-US" sz="1200" dirty="0"/>
          </a:p>
          <a:p>
            <a:pPr marL="0" indent="0">
              <a:buNone/>
            </a:pPr>
            <a:r>
              <a:rPr lang="en-US" sz="1050" dirty="0">
                <a:solidFill>
                  <a:srgbClr val="1B2A41"/>
                </a:solidFill>
                <a:latin typeface="Calibri" pitchFamily="34" charset="0"/>
                <a:ea typeface="Calibri" pitchFamily="34" charset="-122"/>
                <a:cs typeface="Calibri" pitchFamily="34" charset="-120"/>
              </a:rPr>
              <a:t>80/20 stratified: 144 train, 36 test. 23 features after processing.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Exploratory Data Analysis</a:t>
            </a:r>
            <a:endParaRPr lang="en-US" sz="2800" dirty="0"/>
          </a:p>
        </p:txBody>
      </p:sp>
      <p:sp>
        <p:nvSpPr>
          <p:cNvPr id="4" name="Shape 1"/>
          <p:cNvSpPr/>
          <p:nvPr/>
        </p:nvSpPr>
        <p:spPr>
          <a:xfrm>
            <a:off x="457200" y="1005840"/>
            <a:ext cx="2651760" cy="3611880"/>
          </a:xfrm>
          <a:prstGeom prst="roundRect">
            <a:avLst>
              <a:gd name="adj" fmla="val 275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pic>
        <p:nvPicPr>
          <p:cNvPr id="5" name="Image 0" descr="/home/claude/img/contract.png"/>
          <p:cNvPicPr>
            <a:picLocks noChangeAspect="1"/>
          </p:cNvPicPr>
          <p:nvPr/>
        </p:nvPicPr>
        <p:blipFill>
          <a:blip r:embed="rId3"/>
          <a:stretch>
            <a:fillRect/>
          </a:stretch>
        </p:blipFill>
        <p:spPr>
          <a:xfrm>
            <a:off x="502920" y="1097280"/>
            <a:ext cx="2560320" cy="1572768"/>
          </a:xfrm>
          <a:prstGeom prst="rect">
            <a:avLst/>
          </a:prstGeom>
        </p:spPr>
      </p:pic>
      <p:sp>
        <p:nvSpPr>
          <p:cNvPr id="6" name="Text 2"/>
          <p:cNvSpPr txBox="1"/>
          <p:nvPr/>
        </p:nvSpPr>
        <p:spPr>
          <a:xfrm>
            <a:off x="594360" y="2788920"/>
            <a:ext cx="2377440" cy="1737360"/>
          </a:xfrm>
          <a:prstGeom prst="rect">
            <a:avLst/>
          </a:prstGeom>
          <a:noFill/>
          <a:ln/>
        </p:spPr>
        <p:txBody>
          <a:bodyPr wrap="square" lIns="0" tIns="0" rIns="0" bIns="0" rtlCol="0" anchor="t"/>
          <a:lstStyle/>
          <a:p>
            <a:pPr marL="0" indent="0">
              <a:spcAft>
                <a:spcPts val="400"/>
              </a:spcAft>
              <a:buNone/>
            </a:pPr>
            <a:r>
              <a:rPr lang="en-US" sz="1250" b="1" dirty="0">
                <a:solidFill>
                  <a:srgbClr val="0B1F3A"/>
                </a:solidFill>
                <a:latin typeface="Calibri" pitchFamily="34" charset="0"/>
                <a:ea typeface="Calibri" pitchFamily="34" charset="-122"/>
                <a:cs typeface="Calibri" pitchFamily="34" charset="-120"/>
              </a:rPr>
              <a:t>Churn by Contract Type</a:t>
            </a:r>
            <a:endParaRPr lang="en-US" sz="1200" dirty="0"/>
          </a:p>
          <a:p>
            <a:pPr marL="0" indent="0">
              <a:buNone/>
            </a:pPr>
            <a:r>
              <a:rPr lang="en-US" sz="1150" dirty="0">
                <a:solidFill>
                  <a:srgbClr val="1B2A41"/>
                </a:solidFill>
                <a:latin typeface="Calibri" pitchFamily="34" charset="0"/>
                <a:ea typeface="Calibri" pitchFamily="34" charset="-122"/>
                <a:cs typeface="Calibri" pitchFamily="34" charset="-120"/>
              </a:rPr>
              <a:t>Monthly: 62.5% churn. 1 Year: 46.2%. 2 Year: 17.4%.</a:t>
            </a:r>
            <a:endParaRPr lang="en-US" sz="1200" dirty="0"/>
          </a:p>
        </p:txBody>
      </p:sp>
      <p:sp>
        <p:nvSpPr>
          <p:cNvPr id="7" name="Shape 3"/>
          <p:cNvSpPr/>
          <p:nvPr/>
        </p:nvSpPr>
        <p:spPr>
          <a:xfrm>
            <a:off x="3291840" y="1005840"/>
            <a:ext cx="2651760" cy="3611880"/>
          </a:xfrm>
          <a:prstGeom prst="roundRect">
            <a:avLst>
              <a:gd name="adj" fmla="val 275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pic>
        <p:nvPicPr>
          <p:cNvPr id="8" name="Image 1" descr="/home/claude/img/satis.png"/>
          <p:cNvPicPr>
            <a:picLocks noChangeAspect="1"/>
          </p:cNvPicPr>
          <p:nvPr/>
        </p:nvPicPr>
        <p:blipFill>
          <a:blip r:embed="rId4"/>
          <a:stretch>
            <a:fillRect/>
          </a:stretch>
        </p:blipFill>
        <p:spPr>
          <a:xfrm>
            <a:off x="3337560" y="1097280"/>
            <a:ext cx="2560320" cy="1572768"/>
          </a:xfrm>
          <a:prstGeom prst="rect">
            <a:avLst/>
          </a:prstGeom>
        </p:spPr>
      </p:pic>
      <p:sp>
        <p:nvSpPr>
          <p:cNvPr id="9" name="Text 4"/>
          <p:cNvSpPr txBox="1"/>
          <p:nvPr/>
        </p:nvSpPr>
        <p:spPr>
          <a:xfrm>
            <a:off x="3429000" y="2788920"/>
            <a:ext cx="2377440" cy="1737360"/>
          </a:xfrm>
          <a:prstGeom prst="rect">
            <a:avLst/>
          </a:prstGeom>
          <a:noFill/>
          <a:ln/>
        </p:spPr>
        <p:txBody>
          <a:bodyPr wrap="square" lIns="0" tIns="0" rIns="0" bIns="0" rtlCol="0" anchor="t"/>
          <a:lstStyle/>
          <a:p>
            <a:pPr marL="0" indent="0">
              <a:spcAft>
                <a:spcPts val="400"/>
              </a:spcAft>
              <a:buNone/>
            </a:pPr>
            <a:r>
              <a:rPr lang="en-US" sz="1250" b="1" dirty="0">
                <a:solidFill>
                  <a:srgbClr val="0B1F3A"/>
                </a:solidFill>
                <a:latin typeface="Calibri" pitchFamily="34" charset="0"/>
                <a:ea typeface="Calibri" pitchFamily="34" charset="-122"/>
                <a:cs typeface="Calibri" pitchFamily="34" charset="-120"/>
              </a:rPr>
              <a:t>Churn by Satisfaction Score</a:t>
            </a:r>
            <a:endParaRPr lang="en-US" sz="1200" dirty="0"/>
          </a:p>
          <a:p>
            <a:pPr marL="0" indent="0">
              <a:buNone/>
            </a:pPr>
            <a:r>
              <a:rPr lang="en-US" sz="1150" dirty="0">
                <a:solidFill>
                  <a:srgbClr val="1B2A41"/>
                </a:solidFill>
                <a:latin typeface="Calibri" pitchFamily="34" charset="0"/>
                <a:ea typeface="Calibri" pitchFamily="34" charset="-122"/>
                <a:cs typeface="Calibri" pitchFamily="34" charset="-120"/>
              </a:rPr>
              <a:t>Scores 1, 3, 5 show 67-69% churn; score 10 shows 29.4%. Pattern is not perfectly smooth.</a:t>
            </a:r>
            <a:endParaRPr lang="en-US" sz="1200" dirty="0"/>
          </a:p>
        </p:txBody>
      </p:sp>
      <p:sp>
        <p:nvSpPr>
          <p:cNvPr id="10" name="Shape 5"/>
          <p:cNvSpPr/>
          <p:nvPr/>
        </p:nvSpPr>
        <p:spPr>
          <a:xfrm>
            <a:off x="6126480" y="1005840"/>
            <a:ext cx="2651760" cy="3611880"/>
          </a:xfrm>
          <a:prstGeom prst="roundRect">
            <a:avLst>
              <a:gd name="adj" fmla="val 2759"/>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pic>
        <p:nvPicPr>
          <p:cNvPr id="11" name="Image 2" descr="/home/claude/img/charges.png"/>
          <p:cNvPicPr>
            <a:picLocks noChangeAspect="1"/>
          </p:cNvPicPr>
          <p:nvPr/>
        </p:nvPicPr>
        <p:blipFill>
          <a:blip r:embed="rId5"/>
          <a:stretch>
            <a:fillRect/>
          </a:stretch>
        </p:blipFill>
        <p:spPr>
          <a:xfrm>
            <a:off x="6172200" y="1097280"/>
            <a:ext cx="2560320" cy="1572768"/>
          </a:xfrm>
          <a:prstGeom prst="rect">
            <a:avLst/>
          </a:prstGeom>
        </p:spPr>
      </p:pic>
      <p:sp>
        <p:nvSpPr>
          <p:cNvPr id="12" name="Text 6"/>
          <p:cNvSpPr txBox="1"/>
          <p:nvPr/>
        </p:nvSpPr>
        <p:spPr>
          <a:xfrm>
            <a:off x="6263640" y="2788920"/>
            <a:ext cx="2377440" cy="1737360"/>
          </a:xfrm>
          <a:prstGeom prst="rect">
            <a:avLst/>
          </a:prstGeom>
          <a:noFill/>
          <a:ln/>
        </p:spPr>
        <p:txBody>
          <a:bodyPr wrap="square" lIns="0" tIns="0" rIns="0" bIns="0" rtlCol="0" anchor="t"/>
          <a:lstStyle/>
          <a:p>
            <a:pPr marL="0" indent="0">
              <a:spcAft>
                <a:spcPts val="400"/>
              </a:spcAft>
              <a:buNone/>
            </a:pPr>
            <a:r>
              <a:rPr lang="en-US" sz="1250" b="1" dirty="0">
                <a:solidFill>
                  <a:srgbClr val="0B1F3A"/>
                </a:solidFill>
                <a:latin typeface="Calibri" pitchFamily="34" charset="0"/>
                <a:ea typeface="Calibri" pitchFamily="34" charset="-122"/>
                <a:cs typeface="Calibri" pitchFamily="34" charset="-120"/>
              </a:rPr>
              <a:t>Avg Monthly Charges by Churn</a:t>
            </a:r>
            <a:endParaRPr lang="en-US" sz="1200" dirty="0"/>
          </a:p>
          <a:p>
            <a:pPr marL="0" indent="0">
              <a:buNone/>
            </a:pPr>
            <a:r>
              <a:rPr lang="en-US" sz="1150" dirty="0">
                <a:solidFill>
                  <a:srgbClr val="1B2A41"/>
                </a:solidFill>
                <a:latin typeface="Calibri" pitchFamily="34" charset="0"/>
                <a:ea typeface="Calibri" pitchFamily="34" charset="-122"/>
                <a:cs typeface="Calibri" pitchFamily="34" charset="-120"/>
              </a:rPr>
              <a:t>Churned customers pay more (86.06 vs 72.65) and made more support calls (3.44 vs 2.95).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What is Machine Learning?</a:t>
            </a:r>
            <a:endParaRPr lang="en-US" sz="2800" dirty="0"/>
          </a:p>
        </p:txBody>
      </p:sp>
      <p:sp>
        <p:nvSpPr>
          <p:cNvPr id="4" name="Text 1"/>
          <p:cNvSpPr txBox="1"/>
          <p:nvPr/>
        </p:nvSpPr>
        <p:spPr>
          <a:xfrm>
            <a:off x="457200" y="1188720"/>
            <a:ext cx="1783080" cy="1188720"/>
          </a:xfrm>
          <a:prstGeom prst="roundRect">
            <a:avLst>
              <a:gd name="adj" fmla="val 6154"/>
            </a:avLst>
          </a:prstGeom>
          <a:solidFill>
            <a:srgbClr val="0B1F3A"/>
          </a:solidFill>
          <a:ln/>
        </p:spPr>
        <p:txBody>
          <a:bodyPr wrap="square" lIns="635" tIns="635" rIns="635" bIns="635"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Data</a:t>
            </a:r>
            <a:endParaRPr lang="en-US" sz="1200" dirty="0"/>
          </a:p>
          <a:p>
            <a:pPr marL="0" indent="0" algn="ctr">
              <a:buNone/>
            </a:pPr>
            <a:r>
              <a:rPr lang="en-US" sz="1050" dirty="0">
                <a:solidFill>
                  <a:srgbClr val="FFFFFF"/>
                </a:solidFill>
                <a:latin typeface="Calibri" pitchFamily="34" charset="0"/>
                <a:ea typeface="Calibri" pitchFamily="34" charset="-122"/>
                <a:cs typeface="Calibri" pitchFamily="34" charset="-120"/>
              </a:rPr>
              <a:t>Customer records</a:t>
            </a:r>
            <a:endParaRPr lang="en-US" sz="1200" dirty="0"/>
          </a:p>
        </p:txBody>
      </p:sp>
      <p:sp>
        <p:nvSpPr>
          <p:cNvPr id="5" name="Shape 2"/>
          <p:cNvSpPr/>
          <p:nvPr/>
        </p:nvSpPr>
        <p:spPr>
          <a:xfrm>
            <a:off x="2276856" y="1783080"/>
            <a:ext cx="292608" cy="914"/>
          </a:xfrm>
          <a:prstGeom prst="line">
            <a:avLst/>
          </a:prstGeom>
          <a:noFill/>
          <a:ln w="19050">
            <a:solidFill>
              <a:srgbClr val="5B6B82"/>
            </a:solidFill>
            <a:prstDash val="solid"/>
            <a:tailEnd type="triangle"/>
          </a:ln>
        </p:spPr>
        <p:txBody>
          <a:bodyPr/>
          <a:lstStyle/>
          <a:p>
            <a:endParaRPr lang="en-IN"/>
          </a:p>
        </p:txBody>
      </p:sp>
      <p:sp>
        <p:nvSpPr>
          <p:cNvPr id="6" name="Text 3"/>
          <p:cNvSpPr txBox="1"/>
          <p:nvPr/>
        </p:nvSpPr>
        <p:spPr>
          <a:xfrm>
            <a:off x="2606040" y="1188720"/>
            <a:ext cx="1783080" cy="1188720"/>
          </a:xfrm>
          <a:prstGeom prst="roundRect">
            <a:avLst>
              <a:gd name="adj" fmla="val 6154"/>
            </a:avLst>
          </a:prstGeom>
          <a:solidFill>
            <a:srgbClr val="16325C"/>
          </a:solidFill>
          <a:ln/>
        </p:spPr>
        <p:txBody>
          <a:bodyPr wrap="square" lIns="635" tIns="635" rIns="635" bIns="635"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Algorithm</a:t>
            </a:r>
            <a:endParaRPr lang="en-US" sz="1200" dirty="0"/>
          </a:p>
          <a:p>
            <a:pPr marL="0" indent="0" algn="ctr">
              <a:buNone/>
            </a:pPr>
            <a:r>
              <a:rPr lang="en-US" sz="1050" dirty="0">
                <a:solidFill>
                  <a:srgbClr val="FFFFFF"/>
                </a:solidFill>
                <a:latin typeface="Calibri" pitchFamily="34" charset="0"/>
                <a:ea typeface="Calibri" pitchFamily="34" charset="-122"/>
                <a:cs typeface="Calibri" pitchFamily="34" charset="-120"/>
              </a:rPr>
              <a:t>KNN, Random Forest, etc.</a:t>
            </a:r>
            <a:endParaRPr lang="en-US" sz="1200" dirty="0"/>
          </a:p>
        </p:txBody>
      </p:sp>
      <p:sp>
        <p:nvSpPr>
          <p:cNvPr id="7" name="Shape 4"/>
          <p:cNvSpPr/>
          <p:nvPr/>
        </p:nvSpPr>
        <p:spPr>
          <a:xfrm>
            <a:off x="4425696" y="1783080"/>
            <a:ext cx="292608" cy="914"/>
          </a:xfrm>
          <a:prstGeom prst="line">
            <a:avLst/>
          </a:prstGeom>
          <a:noFill/>
          <a:ln w="19050">
            <a:solidFill>
              <a:srgbClr val="5B6B82"/>
            </a:solidFill>
            <a:prstDash val="solid"/>
            <a:tailEnd type="triangle"/>
          </a:ln>
        </p:spPr>
        <p:txBody>
          <a:bodyPr/>
          <a:lstStyle/>
          <a:p>
            <a:endParaRPr lang="en-IN"/>
          </a:p>
        </p:txBody>
      </p:sp>
      <p:sp>
        <p:nvSpPr>
          <p:cNvPr id="8" name="Text 5"/>
          <p:cNvSpPr txBox="1"/>
          <p:nvPr/>
        </p:nvSpPr>
        <p:spPr>
          <a:xfrm>
            <a:off x="4754880" y="1188720"/>
            <a:ext cx="1783080" cy="1188720"/>
          </a:xfrm>
          <a:prstGeom prst="roundRect">
            <a:avLst>
              <a:gd name="adj" fmla="val 6154"/>
            </a:avLst>
          </a:prstGeom>
          <a:solidFill>
            <a:srgbClr val="16325C"/>
          </a:solidFill>
          <a:ln/>
        </p:spPr>
        <p:txBody>
          <a:bodyPr wrap="square" lIns="635" tIns="635" rIns="635" bIns="635"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Model</a:t>
            </a:r>
            <a:endParaRPr lang="en-US" sz="1200" dirty="0"/>
          </a:p>
          <a:p>
            <a:pPr marL="0" indent="0" algn="ctr">
              <a:buNone/>
            </a:pPr>
            <a:r>
              <a:rPr lang="en-US" sz="1050" dirty="0">
                <a:solidFill>
                  <a:srgbClr val="FFFFFF"/>
                </a:solidFill>
                <a:latin typeface="Calibri" pitchFamily="34" charset="0"/>
                <a:ea typeface="Calibri" pitchFamily="34" charset="-122"/>
                <a:cs typeface="Calibri" pitchFamily="34" charset="-120"/>
              </a:rPr>
              <a:t>Learned churn patterns</a:t>
            </a:r>
            <a:endParaRPr lang="en-US" sz="1200" dirty="0"/>
          </a:p>
        </p:txBody>
      </p:sp>
      <p:sp>
        <p:nvSpPr>
          <p:cNvPr id="9" name="Shape 6"/>
          <p:cNvSpPr/>
          <p:nvPr/>
        </p:nvSpPr>
        <p:spPr>
          <a:xfrm>
            <a:off x="6574536" y="1783080"/>
            <a:ext cx="292608" cy="914"/>
          </a:xfrm>
          <a:prstGeom prst="line">
            <a:avLst/>
          </a:prstGeom>
          <a:noFill/>
          <a:ln w="19050">
            <a:solidFill>
              <a:srgbClr val="5B6B82"/>
            </a:solidFill>
            <a:prstDash val="solid"/>
            <a:tailEnd type="triangle"/>
          </a:ln>
        </p:spPr>
        <p:txBody>
          <a:bodyPr/>
          <a:lstStyle/>
          <a:p>
            <a:endParaRPr lang="en-IN"/>
          </a:p>
        </p:txBody>
      </p:sp>
      <p:sp>
        <p:nvSpPr>
          <p:cNvPr id="10" name="Text 7"/>
          <p:cNvSpPr txBox="1"/>
          <p:nvPr/>
        </p:nvSpPr>
        <p:spPr>
          <a:xfrm>
            <a:off x="6903720" y="1188720"/>
            <a:ext cx="1783080" cy="1188720"/>
          </a:xfrm>
          <a:prstGeom prst="roundRect">
            <a:avLst>
              <a:gd name="adj" fmla="val 6154"/>
            </a:avLst>
          </a:prstGeom>
          <a:solidFill>
            <a:srgbClr val="14B8A6"/>
          </a:solidFill>
          <a:ln/>
        </p:spPr>
        <p:txBody>
          <a:bodyPr wrap="square" lIns="635" tIns="635" rIns="635" bIns="635"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Prediction</a:t>
            </a:r>
            <a:endParaRPr lang="en-US" sz="1200" dirty="0"/>
          </a:p>
          <a:p>
            <a:pPr marL="0" indent="0" algn="ctr">
              <a:buNone/>
            </a:pPr>
            <a:r>
              <a:rPr lang="en-US" sz="1050" dirty="0">
                <a:solidFill>
                  <a:srgbClr val="FFFFFF"/>
                </a:solidFill>
                <a:latin typeface="Calibri" pitchFamily="34" charset="0"/>
                <a:ea typeface="Calibri" pitchFamily="34" charset="-122"/>
                <a:cs typeface="Calibri" pitchFamily="34" charset="-120"/>
              </a:rPr>
              <a:t>Churn: Yes / No</a:t>
            </a:r>
            <a:endParaRPr lang="en-US" sz="1200" dirty="0"/>
          </a:p>
        </p:txBody>
      </p:sp>
      <p:sp>
        <p:nvSpPr>
          <p:cNvPr id="11" name="Shape 8"/>
          <p:cNvSpPr/>
          <p:nvPr/>
        </p:nvSpPr>
        <p:spPr>
          <a:xfrm>
            <a:off x="457200" y="2834640"/>
            <a:ext cx="8229600" cy="1463040"/>
          </a:xfrm>
          <a:prstGeom prst="roundRect">
            <a:avLst>
              <a:gd name="adj" fmla="val 5000"/>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2" name="Text 9"/>
          <p:cNvSpPr txBox="1"/>
          <p:nvPr/>
        </p:nvSpPr>
        <p:spPr>
          <a:xfrm>
            <a:off x="685800" y="3017520"/>
            <a:ext cx="7772400" cy="11887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Customer Churn example</a:t>
            </a:r>
            <a:endParaRPr lang="en-US" sz="1300" dirty="0"/>
          </a:p>
          <a:p>
            <a:pPr marL="0" indent="0">
              <a:buNone/>
            </a:pPr>
            <a:r>
              <a:rPr lang="en-US" sz="1100" dirty="0">
                <a:solidFill>
                  <a:srgbClr val="1B2A41"/>
                </a:solidFill>
                <a:latin typeface="Calibri" pitchFamily="34" charset="0"/>
                <a:ea typeface="Calibri" pitchFamily="34" charset="-122"/>
                <a:cs typeface="Calibri" pitchFamily="34" charset="-120"/>
              </a:rPr>
              <a:t>Machine Learning allows computers to learn patterns from data and make predictions. Here, the computer learns from past customers (their contract, satisfaction, charges, support calls) and then predicts whether a new customer may leave.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What is Supervised Learning?</a:t>
            </a:r>
            <a:endParaRPr lang="en-US" sz="2800" dirty="0"/>
          </a:p>
        </p:txBody>
      </p:sp>
      <p:sp>
        <p:nvSpPr>
          <p:cNvPr id="4" name="Text 1"/>
          <p:cNvSpPr txBox="1"/>
          <p:nvPr/>
        </p:nvSpPr>
        <p:spPr>
          <a:xfrm>
            <a:off x="1371600" y="1051560"/>
            <a:ext cx="1889760" cy="777240"/>
          </a:xfrm>
          <a:prstGeom prst="roundRect">
            <a:avLst>
              <a:gd name="adj" fmla="val 9412"/>
            </a:avLst>
          </a:prstGeom>
          <a:solidFill>
            <a:srgbClr val="0B1F3A"/>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Customer Features</a:t>
            </a:r>
            <a:endParaRPr lang="en-US" sz="1200" dirty="0"/>
          </a:p>
        </p:txBody>
      </p:sp>
      <p:sp>
        <p:nvSpPr>
          <p:cNvPr id="5" name="Shape 2"/>
          <p:cNvSpPr/>
          <p:nvPr/>
        </p:nvSpPr>
        <p:spPr>
          <a:xfrm>
            <a:off x="3297936" y="1440180"/>
            <a:ext cx="292608" cy="914"/>
          </a:xfrm>
          <a:prstGeom prst="line">
            <a:avLst/>
          </a:prstGeom>
          <a:noFill/>
          <a:ln w="19050">
            <a:solidFill>
              <a:srgbClr val="5B6B82"/>
            </a:solidFill>
            <a:prstDash val="solid"/>
            <a:tailEnd type="triangle"/>
          </a:ln>
        </p:spPr>
        <p:txBody>
          <a:bodyPr/>
          <a:lstStyle/>
          <a:p>
            <a:endParaRPr lang="en-IN"/>
          </a:p>
        </p:txBody>
      </p:sp>
      <p:sp>
        <p:nvSpPr>
          <p:cNvPr id="6" name="Text 3"/>
          <p:cNvSpPr txBox="1"/>
          <p:nvPr/>
        </p:nvSpPr>
        <p:spPr>
          <a:xfrm>
            <a:off x="3627120" y="1051560"/>
            <a:ext cx="1889760" cy="777240"/>
          </a:xfrm>
          <a:prstGeom prst="roundRect">
            <a:avLst>
              <a:gd name="adj" fmla="val 9412"/>
            </a:avLst>
          </a:prstGeom>
          <a:solidFill>
            <a:srgbClr val="16325C"/>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ML Model</a:t>
            </a:r>
            <a:endParaRPr lang="en-US" sz="1200" dirty="0"/>
          </a:p>
        </p:txBody>
      </p:sp>
      <p:sp>
        <p:nvSpPr>
          <p:cNvPr id="7" name="Shape 4"/>
          <p:cNvSpPr/>
          <p:nvPr/>
        </p:nvSpPr>
        <p:spPr>
          <a:xfrm>
            <a:off x="5553456" y="1440180"/>
            <a:ext cx="292608" cy="914"/>
          </a:xfrm>
          <a:prstGeom prst="line">
            <a:avLst/>
          </a:prstGeom>
          <a:noFill/>
          <a:ln w="19050">
            <a:solidFill>
              <a:srgbClr val="5B6B82"/>
            </a:solidFill>
            <a:prstDash val="solid"/>
            <a:tailEnd type="triangle"/>
          </a:ln>
        </p:spPr>
        <p:txBody>
          <a:bodyPr/>
          <a:lstStyle/>
          <a:p>
            <a:endParaRPr lang="en-IN"/>
          </a:p>
        </p:txBody>
      </p:sp>
      <p:sp>
        <p:nvSpPr>
          <p:cNvPr id="8" name="Text 5"/>
          <p:cNvSpPr txBox="1"/>
          <p:nvPr/>
        </p:nvSpPr>
        <p:spPr>
          <a:xfrm>
            <a:off x="5882640" y="1051560"/>
            <a:ext cx="1889760" cy="777240"/>
          </a:xfrm>
          <a:prstGeom prst="roundRect">
            <a:avLst>
              <a:gd name="adj" fmla="val 9412"/>
            </a:avLst>
          </a:prstGeom>
          <a:solidFill>
            <a:srgbClr val="14B8A6"/>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Churn</a:t>
            </a:r>
            <a:endParaRPr lang="en-US" sz="1200" dirty="0"/>
          </a:p>
        </p:txBody>
      </p:sp>
      <p:sp>
        <p:nvSpPr>
          <p:cNvPr id="9" name="Shape 6"/>
          <p:cNvSpPr/>
          <p:nvPr/>
        </p:nvSpPr>
        <p:spPr>
          <a:xfrm>
            <a:off x="457200" y="2103120"/>
            <a:ext cx="4023360" cy="1783080"/>
          </a:xfrm>
          <a:prstGeom prst="roundRect">
            <a:avLst>
              <a:gd name="adj" fmla="val 4103"/>
            </a:avLst>
          </a:prstGeom>
          <a:solidFill>
            <a:srgbClr val="0B1F3A"/>
          </a:solidFill>
          <a:ln w="9525">
            <a:solidFill>
              <a:srgbClr val="0B1F3A"/>
            </a:solidFill>
            <a:prstDash val="solid"/>
          </a:ln>
          <a:effectLst>
            <a:outerShdw blurRad="76200" dist="25400" dir="5400000" algn="bl" rotWithShape="0">
              <a:srgbClr val="000000">
                <a:alpha val="10000"/>
              </a:srgbClr>
            </a:outerShdw>
          </a:effectLst>
        </p:spPr>
        <p:txBody>
          <a:bodyPr/>
          <a:lstStyle/>
          <a:p>
            <a:endParaRPr lang="en-IN"/>
          </a:p>
        </p:txBody>
      </p:sp>
      <p:sp>
        <p:nvSpPr>
          <p:cNvPr id="10" name="Text 7"/>
          <p:cNvSpPr txBox="1"/>
          <p:nvPr/>
        </p:nvSpPr>
        <p:spPr>
          <a:xfrm>
            <a:off x="685800" y="2286000"/>
            <a:ext cx="3566160" cy="1463040"/>
          </a:xfrm>
          <a:prstGeom prst="rect">
            <a:avLst/>
          </a:prstGeom>
          <a:noFill/>
          <a:ln/>
        </p:spPr>
        <p:txBody>
          <a:bodyPr wrap="square" lIns="0" tIns="0" rIns="0" bIns="0" rtlCol="0" anchor="t"/>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Classification</a:t>
            </a:r>
            <a:endParaRPr lang="en-US" sz="1200" dirty="0"/>
          </a:p>
          <a:p>
            <a:pPr marL="0" indent="0">
              <a:buNone/>
            </a:pPr>
            <a:r>
              <a:rPr lang="en-US" sz="1300" dirty="0">
                <a:solidFill>
                  <a:srgbClr val="C9D6E8"/>
                </a:solidFill>
                <a:latin typeface="Calibri" pitchFamily="34" charset="0"/>
                <a:ea typeface="Calibri" pitchFamily="34" charset="-122"/>
                <a:cs typeface="Calibri" pitchFamily="34" charset="-120"/>
              </a:rPr>
              <a:t>Predicts a category. Example: Churn = Yes / No.</a:t>
            </a:r>
            <a:endParaRPr lang="en-US" sz="1200" dirty="0"/>
          </a:p>
        </p:txBody>
      </p:sp>
      <p:sp>
        <p:nvSpPr>
          <p:cNvPr id="11" name="Shape 8"/>
          <p:cNvSpPr/>
          <p:nvPr/>
        </p:nvSpPr>
        <p:spPr>
          <a:xfrm>
            <a:off x="4663440" y="2103120"/>
            <a:ext cx="4023360" cy="1783080"/>
          </a:xfrm>
          <a:prstGeom prst="roundRect">
            <a:avLst>
              <a:gd name="adj" fmla="val 4103"/>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2" name="Text 9"/>
          <p:cNvSpPr txBox="1"/>
          <p:nvPr/>
        </p:nvSpPr>
        <p:spPr>
          <a:xfrm>
            <a:off x="4892040" y="2286000"/>
            <a:ext cx="3566160" cy="1463040"/>
          </a:xfrm>
          <a:prstGeom prst="rect">
            <a:avLst/>
          </a:prstGeom>
          <a:noFill/>
          <a:ln/>
        </p:spPr>
        <p:txBody>
          <a:bodyPr wrap="square" lIns="0" tIns="0" rIns="0" bIns="0" rtlCol="0" anchor="t"/>
          <a:lstStyle/>
          <a:p>
            <a:pPr marL="0" indent="0">
              <a:spcAft>
                <a:spcPts val="400"/>
              </a:spcAft>
              <a:buNone/>
            </a:pPr>
            <a:r>
              <a:rPr lang="en-US" sz="1800" b="1" dirty="0">
                <a:solidFill>
                  <a:srgbClr val="0B1F3A"/>
                </a:solidFill>
                <a:latin typeface="Calibri" pitchFamily="34" charset="0"/>
                <a:ea typeface="Calibri" pitchFamily="34" charset="-122"/>
                <a:cs typeface="Calibri" pitchFamily="34" charset="-120"/>
              </a:rPr>
              <a:t>Regression</a:t>
            </a:r>
            <a:endParaRPr lang="en-US" sz="1200" dirty="0"/>
          </a:p>
          <a:p>
            <a:pPr marL="0" indent="0">
              <a:buNone/>
            </a:pPr>
            <a:r>
              <a:rPr lang="en-US" sz="1300" dirty="0">
                <a:solidFill>
                  <a:srgbClr val="1B2A41"/>
                </a:solidFill>
                <a:latin typeface="Calibri" pitchFamily="34" charset="0"/>
                <a:ea typeface="Calibri" pitchFamily="34" charset="-122"/>
                <a:cs typeface="Calibri" pitchFamily="34" charset="-120"/>
              </a:rPr>
              <a:t>Predicts a number. Example: Monthly Charges.</a:t>
            </a:r>
            <a:endParaRPr lang="en-US" sz="1200" dirty="0"/>
          </a:p>
        </p:txBody>
      </p:sp>
      <p:sp>
        <p:nvSpPr>
          <p:cNvPr id="13" name="Text 10"/>
          <p:cNvSpPr txBox="1"/>
          <p:nvPr/>
        </p:nvSpPr>
        <p:spPr>
          <a:xfrm>
            <a:off x="457200" y="4114800"/>
            <a:ext cx="8229600" cy="502920"/>
          </a:xfrm>
          <a:prstGeom prst="roundRect">
            <a:avLst>
              <a:gd name="adj" fmla="val 14545"/>
            </a:avLst>
          </a:prstGeom>
          <a:solidFill>
            <a:srgbClr val="F25F5C"/>
          </a:solidFill>
          <a:ln/>
        </p:spPr>
        <p:txBody>
          <a:bodyPr wrap="square" lIns="635" tIns="635" rIns="635" bIns="635"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Customer Churn Prediction  =  CLASSIFICATION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Classification &amp; Evaluation Metrics</a:t>
            </a:r>
            <a:endParaRPr lang="en-US" sz="2800" dirty="0"/>
          </a:p>
        </p:txBody>
      </p:sp>
      <p:sp>
        <p:nvSpPr>
          <p:cNvPr id="4" name="Text 1"/>
          <p:cNvSpPr txBox="1"/>
          <p:nvPr/>
        </p:nvSpPr>
        <p:spPr>
          <a:xfrm>
            <a:off x="457200" y="960120"/>
            <a:ext cx="8229600" cy="502920"/>
          </a:xfrm>
          <a:prstGeom prst="roundRect">
            <a:avLst>
              <a:gd name="adj" fmla="val 14545"/>
            </a:avLst>
          </a:prstGeom>
          <a:solidFill>
            <a:srgbClr val="0B1F3A"/>
          </a:solidFill>
          <a:ln/>
        </p:spPr>
        <p:txBody>
          <a:bodyPr wrap="square" lIns="635" tIns="635" rIns="635" bIns="635"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Churn = Yes / No   -   two classes   -   Classification problem</a:t>
            </a:r>
            <a:endParaRPr lang="en-US" sz="1500" dirty="0"/>
          </a:p>
        </p:txBody>
      </p:sp>
      <p:sp>
        <p:nvSpPr>
          <p:cNvPr id="5" name="Shape 2"/>
          <p:cNvSpPr/>
          <p:nvPr/>
        </p:nvSpPr>
        <p:spPr>
          <a:xfrm>
            <a:off x="457200" y="169164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6" name="Text 3"/>
          <p:cNvSpPr txBox="1"/>
          <p:nvPr/>
        </p:nvSpPr>
        <p:spPr>
          <a:xfrm>
            <a:off x="594360" y="182880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Accuracy</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Overall correct predictions</a:t>
            </a:r>
            <a:endParaRPr lang="en-US" sz="1200" dirty="0"/>
          </a:p>
        </p:txBody>
      </p:sp>
      <p:sp>
        <p:nvSpPr>
          <p:cNvPr id="7" name="Shape 4"/>
          <p:cNvSpPr/>
          <p:nvPr/>
        </p:nvSpPr>
        <p:spPr>
          <a:xfrm>
            <a:off x="3291840" y="169164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8" name="Text 5"/>
          <p:cNvSpPr txBox="1"/>
          <p:nvPr/>
        </p:nvSpPr>
        <p:spPr>
          <a:xfrm>
            <a:off x="3429000" y="182880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Precision</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Of predicted churners, how many really churned</a:t>
            </a:r>
            <a:endParaRPr lang="en-US" sz="1200" dirty="0"/>
          </a:p>
        </p:txBody>
      </p:sp>
      <p:sp>
        <p:nvSpPr>
          <p:cNvPr id="9" name="Shape 6"/>
          <p:cNvSpPr/>
          <p:nvPr/>
        </p:nvSpPr>
        <p:spPr>
          <a:xfrm>
            <a:off x="6126480" y="169164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0" name="Text 7"/>
          <p:cNvSpPr txBox="1"/>
          <p:nvPr/>
        </p:nvSpPr>
        <p:spPr>
          <a:xfrm>
            <a:off x="6263640" y="182880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Recall</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Of actual churners, how many we found</a:t>
            </a:r>
            <a:endParaRPr lang="en-US" sz="1200" dirty="0"/>
          </a:p>
        </p:txBody>
      </p:sp>
      <p:sp>
        <p:nvSpPr>
          <p:cNvPr id="11" name="Shape 8"/>
          <p:cNvSpPr/>
          <p:nvPr/>
        </p:nvSpPr>
        <p:spPr>
          <a:xfrm>
            <a:off x="457200" y="320040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2" name="Text 9"/>
          <p:cNvSpPr txBox="1"/>
          <p:nvPr/>
        </p:nvSpPr>
        <p:spPr>
          <a:xfrm>
            <a:off x="594360" y="333756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F1 Score</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Balance between Precision and Recall</a:t>
            </a:r>
            <a:endParaRPr lang="en-US" sz="1200" dirty="0"/>
          </a:p>
        </p:txBody>
      </p:sp>
      <p:sp>
        <p:nvSpPr>
          <p:cNvPr id="13" name="Shape 10"/>
          <p:cNvSpPr/>
          <p:nvPr/>
        </p:nvSpPr>
        <p:spPr>
          <a:xfrm>
            <a:off x="3291840" y="320040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4" name="Text 11"/>
          <p:cNvSpPr txBox="1"/>
          <p:nvPr/>
        </p:nvSpPr>
        <p:spPr>
          <a:xfrm>
            <a:off x="3429000" y="333756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Confusion Matrix</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Table of right and wrong predictions (TP, TN, FP, FN)</a:t>
            </a:r>
            <a:endParaRPr lang="en-US" sz="1200" dirty="0"/>
          </a:p>
        </p:txBody>
      </p:sp>
      <p:sp>
        <p:nvSpPr>
          <p:cNvPr id="15" name="Shape 12"/>
          <p:cNvSpPr/>
          <p:nvPr/>
        </p:nvSpPr>
        <p:spPr>
          <a:xfrm>
            <a:off x="6126480" y="320040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6" name="Text 13"/>
          <p:cNvSpPr txBox="1"/>
          <p:nvPr/>
        </p:nvSpPr>
        <p:spPr>
          <a:xfrm>
            <a:off x="6263640" y="3337560"/>
            <a:ext cx="2377440" cy="1097280"/>
          </a:xfrm>
          <a:prstGeom prst="rect">
            <a:avLst/>
          </a:prstGeom>
          <a:noFill/>
          <a:ln/>
        </p:spPr>
        <p:txBody>
          <a:bodyPr wrap="square" lIns="0" tIns="0" rIns="0" bIns="0" rtlCol="0" anchor="t"/>
          <a:lstStyle/>
          <a:p>
            <a:pPr marL="0" indent="0">
              <a:spcAft>
                <a:spcPts val="400"/>
              </a:spcAft>
              <a:buNone/>
            </a:pPr>
            <a:r>
              <a:rPr lang="en-US" sz="1500" b="1" dirty="0">
                <a:solidFill>
                  <a:srgbClr val="14B8A6"/>
                </a:solidFill>
                <a:latin typeface="Calibri" pitchFamily="34" charset="0"/>
                <a:ea typeface="Calibri" pitchFamily="34" charset="-122"/>
                <a:cs typeface="Calibri" pitchFamily="34" charset="-120"/>
              </a:rPr>
              <a:t>ROC-AUC</a:t>
            </a:r>
            <a:endParaRPr lang="en-US" sz="1200" dirty="0"/>
          </a:p>
          <a:p>
            <a:pPr marL="0" indent="0">
              <a:buNone/>
            </a:pPr>
            <a:r>
              <a:rPr lang="en-US" sz="1200" dirty="0">
                <a:solidFill>
                  <a:srgbClr val="1B2A41"/>
                </a:solidFill>
                <a:latin typeface="Calibri" pitchFamily="34" charset="0"/>
                <a:ea typeface="Calibri" pitchFamily="34" charset="-122"/>
                <a:cs typeface="Calibri" pitchFamily="34" charset="-120"/>
              </a:rPr>
              <a:t>How well the model separates Churn from No Churn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KNN &amp; Decision Tree</a:t>
            </a:r>
            <a:endParaRPr lang="en-US" sz="2800" dirty="0"/>
          </a:p>
        </p:txBody>
      </p:sp>
      <p:sp>
        <p:nvSpPr>
          <p:cNvPr id="4" name="Shape 1"/>
          <p:cNvSpPr/>
          <p:nvPr/>
        </p:nvSpPr>
        <p:spPr>
          <a:xfrm>
            <a:off x="457200" y="1005840"/>
            <a:ext cx="4023360" cy="3611880"/>
          </a:xfrm>
          <a:prstGeom prst="roundRect">
            <a:avLst>
              <a:gd name="adj" fmla="val 2025"/>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5" name="Text 2"/>
          <p:cNvSpPr txBox="1"/>
          <p:nvPr/>
        </p:nvSpPr>
        <p:spPr>
          <a:xfrm>
            <a:off x="640080" y="1097280"/>
            <a:ext cx="3657600" cy="32004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KNN - K-Nearest Neighbors</a:t>
            </a:r>
            <a:endParaRPr lang="en-US" sz="1500" dirty="0"/>
          </a:p>
        </p:txBody>
      </p:sp>
      <p:sp>
        <p:nvSpPr>
          <p:cNvPr id="6" name="Shape 3"/>
          <p:cNvSpPr/>
          <p:nvPr/>
        </p:nvSpPr>
        <p:spPr>
          <a:xfrm>
            <a:off x="1691640" y="1600200"/>
            <a:ext cx="1463040" cy="1463040"/>
          </a:xfrm>
          <a:prstGeom prst="ellipse">
            <a:avLst/>
          </a:prstGeom>
          <a:solidFill>
            <a:srgbClr val="DDF4F0"/>
          </a:solidFill>
          <a:ln w="19050">
            <a:solidFill>
              <a:srgbClr val="14B8A6"/>
            </a:solidFill>
            <a:prstDash val="dash"/>
          </a:ln>
        </p:spPr>
        <p:txBody>
          <a:bodyPr/>
          <a:lstStyle/>
          <a:p>
            <a:endParaRPr lang="en-IN"/>
          </a:p>
        </p:txBody>
      </p:sp>
      <p:sp>
        <p:nvSpPr>
          <p:cNvPr id="7" name="Shape 4"/>
          <p:cNvSpPr/>
          <p:nvPr/>
        </p:nvSpPr>
        <p:spPr>
          <a:xfrm>
            <a:off x="1920240" y="1828800"/>
            <a:ext cx="219456" cy="219456"/>
          </a:xfrm>
          <a:prstGeom prst="ellipse">
            <a:avLst/>
          </a:prstGeom>
          <a:solidFill>
            <a:srgbClr val="F25F5C"/>
          </a:solidFill>
          <a:ln/>
        </p:spPr>
        <p:txBody>
          <a:bodyPr/>
          <a:lstStyle/>
          <a:p>
            <a:endParaRPr lang="en-IN"/>
          </a:p>
        </p:txBody>
      </p:sp>
      <p:sp>
        <p:nvSpPr>
          <p:cNvPr id="8" name="Shape 5"/>
          <p:cNvSpPr/>
          <p:nvPr/>
        </p:nvSpPr>
        <p:spPr>
          <a:xfrm>
            <a:off x="2743200" y="1874520"/>
            <a:ext cx="219456" cy="219456"/>
          </a:xfrm>
          <a:prstGeom prst="ellipse">
            <a:avLst/>
          </a:prstGeom>
          <a:solidFill>
            <a:srgbClr val="F25F5C"/>
          </a:solidFill>
          <a:ln/>
        </p:spPr>
        <p:txBody>
          <a:bodyPr/>
          <a:lstStyle/>
          <a:p>
            <a:endParaRPr lang="en-IN"/>
          </a:p>
        </p:txBody>
      </p:sp>
      <p:sp>
        <p:nvSpPr>
          <p:cNvPr id="9" name="Shape 6"/>
          <p:cNvSpPr/>
          <p:nvPr/>
        </p:nvSpPr>
        <p:spPr>
          <a:xfrm>
            <a:off x="1874520" y="2651760"/>
            <a:ext cx="219456" cy="219456"/>
          </a:xfrm>
          <a:prstGeom prst="ellipse">
            <a:avLst/>
          </a:prstGeom>
          <a:solidFill>
            <a:srgbClr val="F25F5C"/>
          </a:solidFill>
          <a:ln/>
        </p:spPr>
        <p:txBody>
          <a:bodyPr/>
          <a:lstStyle/>
          <a:p>
            <a:endParaRPr lang="en-IN"/>
          </a:p>
        </p:txBody>
      </p:sp>
      <p:sp>
        <p:nvSpPr>
          <p:cNvPr id="10" name="Shape 7"/>
          <p:cNvSpPr/>
          <p:nvPr/>
        </p:nvSpPr>
        <p:spPr>
          <a:xfrm>
            <a:off x="2788920" y="2697480"/>
            <a:ext cx="219456" cy="219456"/>
          </a:xfrm>
          <a:prstGeom prst="ellipse">
            <a:avLst/>
          </a:prstGeom>
          <a:solidFill>
            <a:srgbClr val="14B8A6"/>
          </a:solidFill>
          <a:ln/>
        </p:spPr>
        <p:txBody>
          <a:bodyPr/>
          <a:lstStyle/>
          <a:p>
            <a:endParaRPr lang="en-IN"/>
          </a:p>
        </p:txBody>
      </p:sp>
      <p:sp>
        <p:nvSpPr>
          <p:cNvPr id="11" name="Shape 8"/>
          <p:cNvSpPr/>
          <p:nvPr/>
        </p:nvSpPr>
        <p:spPr>
          <a:xfrm>
            <a:off x="2286000" y="2788920"/>
            <a:ext cx="219456" cy="219456"/>
          </a:xfrm>
          <a:prstGeom prst="ellipse">
            <a:avLst/>
          </a:prstGeom>
          <a:solidFill>
            <a:srgbClr val="14B8A6"/>
          </a:solidFill>
          <a:ln/>
        </p:spPr>
        <p:txBody>
          <a:bodyPr/>
          <a:lstStyle/>
          <a:p>
            <a:endParaRPr lang="en-IN"/>
          </a:p>
        </p:txBody>
      </p:sp>
      <p:sp>
        <p:nvSpPr>
          <p:cNvPr id="12" name="Shape 9"/>
          <p:cNvSpPr/>
          <p:nvPr/>
        </p:nvSpPr>
        <p:spPr>
          <a:xfrm>
            <a:off x="1005840" y="1828800"/>
            <a:ext cx="219456" cy="219456"/>
          </a:xfrm>
          <a:prstGeom prst="ellipse">
            <a:avLst/>
          </a:prstGeom>
          <a:solidFill>
            <a:srgbClr val="14B8A6"/>
          </a:solidFill>
          <a:ln/>
        </p:spPr>
        <p:txBody>
          <a:bodyPr/>
          <a:lstStyle/>
          <a:p>
            <a:endParaRPr lang="en-IN"/>
          </a:p>
        </p:txBody>
      </p:sp>
      <p:sp>
        <p:nvSpPr>
          <p:cNvPr id="13" name="Shape 10"/>
          <p:cNvSpPr/>
          <p:nvPr/>
        </p:nvSpPr>
        <p:spPr>
          <a:xfrm>
            <a:off x="3749040" y="2194560"/>
            <a:ext cx="219456" cy="219456"/>
          </a:xfrm>
          <a:prstGeom prst="ellipse">
            <a:avLst/>
          </a:prstGeom>
          <a:solidFill>
            <a:srgbClr val="F25F5C"/>
          </a:solidFill>
          <a:ln/>
        </p:spPr>
        <p:txBody>
          <a:bodyPr/>
          <a:lstStyle/>
          <a:p>
            <a:endParaRPr lang="en-IN"/>
          </a:p>
        </p:txBody>
      </p:sp>
      <p:sp>
        <p:nvSpPr>
          <p:cNvPr id="14" name="Shape 11"/>
          <p:cNvSpPr/>
          <p:nvPr/>
        </p:nvSpPr>
        <p:spPr>
          <a:xfrm>
            <a:off x="1097280" y="2834640"/>
            <a:ext cx="219456" cy="219456"/>
          </a:xfrm>
          <a:prstGeom prst="ellipse">
            <a:avLst/>
          </a:prstGeom>
          <a:solidFill>
            <a:srgbClr val="14B8A6"/>
          </a:solidFill>
          <a:ln/>
        </p:spPr>
        <p:txBody>
          <a:bodyPr/>
          <a:lstStyle/>
          <a:p>
            <a:endParaRPr lang="en-IN"/>
          </a:p>
        </p:txBody>
      </p:sp>
      <p:sp>
        <p:nvSpPr>
          <p:cNvPr id="15" name="Shape 12"/>
          <p:cNvSpPr/>
          <p:nvPr/>
        </p:nvSpPr>
        <p:spPr>
          <a:xfrm>
            <a:off x="3657600" y="2926080"/>
            <a:ext cx="219456" cy="219456"/>
          </a:xfrm>
          <a:prstGeom prst="ellipse">
            <a:avLst/>
          </a:prstGeom>
          <a:solidFill>
            <a:srgbClr val="14B8A6"/>
          </a:solidFill>
          <a:ln/>
        </p:spPr>
        <p:txBody>
          <a:bodyPr/>
          <a:lstStyle/>
          <a:p>
            <a:endParaRPr lang="en-IN"/>
          </a:p>
        </p:txBody>
      </p:sp>
      <p:sp>
        <p:nvSpPr>
          <p:cNvPr id="16" name="Shape 13"/>
          <p:cNvSpPr/>
          <p:nvPr/>
        </p:nvSpPr>
        <p:spPr>
          <a:xfrm>
            <a:off x="2286000" y="2240280"/>
            <a:ext cx="310896" cy="310896"/>
          </a:xfrm>
          <a:prstGeom prst="ellipse">
            <a:avLst/>
          </a:prstGeom>
          <a:solidFill>
            <a:srgbClr val="0B1F3A"/>
          </a:solidFill>
          <a:ln/>
        </p:spPr>
        <p:txBody>
          <a:bodyPr/>
          <a:lstStyle/>
          <a:p>
            <a:endParaRPr lang="en-IN"/>
          </a:p>
        </p:txBody>
      </p:sp>
      <p:sp>
        <p:nvSpPr>
          <p:cNvPr id="17" name="Text 14"/>
          <p:cNvSpPr txBox="1"/>
          <p:nvPr/>
        </p:nvSpPr>
        <p:spPr>
          <a:xfrm>
            <a:off x="2286000" y="22402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5"/>
          <p:cNvSpPr txBox="1"/>
          <p:nvPr/>
        </p:nvSpPr>
        <p:spPr>
          <a:xfrm>
            <a:off x="685800" y="3291840"/>
            <a:ext cx="3566160" cy="12801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Looks at nearby, similar customers</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Notebook uses K = 5 neighbours</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Majority vote gives Churn or Stay</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Notebook F1 Score: 0.6512</a:t>
            </a:r>
            <a:endParaRPr lang="en-US" sz="1150" dirty="0"/>
          </a:p>
        </p:txBody>
      </p:sp>
      <p:sp>
        <p:nvSpPr>
          <p:cNvPr id="19" name="Shape 16"/>
          <p:cNvSpPr/>
          <p:nvPr/>
        </p:nvSpPr>
        <p:spPr>
          <a:xfrm>
            <a:off x="4663440" y="1005840"/>
            <a:ext cx="4023360" cy="3611880"/>
          </a:xfrm>
          <a:prstGeom prst="roundRect">
            <a:avLst>
              <a:gd name="adj" fmla="val 2025"/>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0" name="Text 17"/>
          <p:cNvSpPr txBox="1"/>
          <p:nvPr/>
        </p:nvSpPr>
        <p:spPr>
          <a:xfrm>
            <a:off x="4846320" y="1097280"/>
            <a:ext cx="3657600" cy="32004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Decision Tree</a:t>
            </a:r>
            <a:endParaRPr lang="en-US" sz="1500" dirty="0"/>
          </a:p>
        </p:txBody>
      </p:sp>
      <p:sp>
        <p:nvSpPr>
          <p:cNvPr id="21" name="Text 18"/>
          <p:cNvSpPr txBox="1"/>
          <p:nvPr/>
        </p:nvSpPr>
        <p:spPr>
          <a:xfrm>
            <a:off x="5943600" y="1554480"/>
            <a:ext cx="1463040" cy="411480"/>
          </a:xfrm>
          <a:prstGeom prst="roundRect">
            <a:avLst>
              <a:gd name="adj" fmla="val 17778"/>
            </a:avLst>
          </a:prstGeom>
          <a:solidFill>
            <a:srgbClr val="0B1F3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Feature question?</a:t>
            </a:r>
            <a:endParaRPr lang="en-US" sz="1100" dirty="0"/>
          </a:p>
        </p:txBody>
      </p:sp>
      <p:sp>
        <p:nvSpPr>
          <p:cNvPr id="22" name="Text 19"/>
          <p:cNvSpPr txBox="1"/>
          <p:nvPr/>
        </p:nvSpPr>
        <p:spPr>
          <a:xfrm>
            <a:off x="5120640" y="2377440"/>
            <a:ext cx="1371600" cy="384048"/>
          </a:xfrm>
          <a:prstGeom prst="roundRect">
            <a:avLst>
              <a:gd name="adj" fmla="val 19048"/>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Next question?</a:t>
            </a:r>
            <a:endParaRPr lang="en-US" sz="1100" dirty="0"/>
          </a:p>
        </p:txBody>
      </p:sp>
      <p:sp>
        <p:nvSpPr>
          <p:cNvPr id="23" name="Text 20"/>
          <p:cNvSpPr txBox="1"/>
          <p:nvPr/>
        </p:nvSpPr>
        <p:spPr>
          <a:xfrm>
            <a:off x="7223760" y="2377440"/>
            <a:ext cx="1097280" cy="384048"/>
          </a:xfrm>
          <a:prstGeom prst="roundRect">
            <a:avLst>
              <a:gd name="adj" fmla="val 19048"/>
            </a:avLst>
          </a:prstGeom>
          <a:solidFill>
            <a:srgbClr val="14B8A6"/>
          </a:solidFill>
          <a:ln/>
        </p:spPr>
        <p:txBody>
          <a:bodyPr wrap="square" lIns="635" tIns="635" rIns="635" bIns="635"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Stay</a:t>
            </a:r>
            <a:endParaRPr lang="en-US" sz="1100" dirty="0"/>
          </a:p>
        </p:txBody>
      </p:sp>
      <p:sp>
        <p:nvSpPr>
          <p:cNvPr id="24" name="Text 21"/>
          <p:cNvSpPr txBox="1"/>
          <p:nvPr/>
        </p:nvSpPr>
        <p:spPr>
          <a:xfrm>
            <a:off x="4846320" y="3108960"/>
            <a:ext cx="914400" cy="365760"/>
          </a:xfrm>
          <a:prstGeom prst="roundRect">
            <a:avLst>
              <a:gd name="adj" fmla="val 20000"/>
            </a:avLst>
          </a:prstGeom>
          <a:solidFill>
            <a:srgbClr val="F25F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Churn</a:t>
            </a:r>
            <a:endParaRPr lang="en-US" sz="1100" dirty="0"/>
          </a:p>
        </p:txBody>
      </p:sp>
      <p:sp>
        <p:nvSpPr>
          <p:cNvPr id="25" name="Text 22"/>
          <p:cNvSpPr txBox="1"/>
          <p:nvPr/>
        </p:nvSpPr>
        <p:spPr>
          <a:xfrm>
            <a:off x="5943600" y="3108960"/>
            <a:ext cx="914400" cy="365760"/>
          </a:xfrm>
          <a:prstGeom prst="roundRect">
            <a:avLst>
              <a:gd name="adj" fmla="val 20000"/>
            </a:avLst>
          </a:prstGeom>
          <a:solidFill>
            <a:srgbClr val="14B8A6"/>
          </a:solidFill>
          <a:ln/>
        </p:spPr>
        <p:txBody>
          <a:bodyPr wrap="square" lIns="635" tIns="635" rIns="635" bIns="635"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Stay</a:t>
            </a:r>
            <a:endParaRPr lang="en-US" sz="1100" dirty="0"/>
          </a:p>
        </p:txBody>
      </p:sp>
      <p:sp>
        <p:nvSpPr>
          <p:cNvPr id="26" name="Shape 23"/>
          <p:cNvSpPr/>
          <p:nvPr/>
        </p:nvSpPr>
        <p:spPr>
          <a:xfrm>
            <a:off x="6400800" y="1965960"/>
            <a:ext cx="0" cy="411480"/>
          </a:xfrm>
          <a:prstGeom prst="line">
            <a:avLst/>
          </a:prstGeom>
          <a:noFill/>
          <a:ln w="19050">
            <a:solidFill>
              <a:srgbClr val="5B6B82"/>
            </a:solidFill>
            <a:prstDash val="solid"/>
            <a:tailEnd type="triangle"/>
          </a:ln>
        </p:spPr>
        <p:txBody>
          <a:bodyPr/>
          <a:lstStyle/>
          <a:p>
            <a:endParaRPr lang="en-IN"/>
          </a:p>
        </p:txBody>
      </p:sp>
      <p:sp>
        <p:nvSpPr>
          <p:cNvPr id="27" name="Shape 24"/>
          <p:cNvSpPr/>
          <p:nvPr/>
        </p:nvSpPr>
        <p:spPr>
          <a:xfrm>
            <a:off x="6949440" y="1965960"/>
            <a:ext cx="822960" cy="411480"/>
          </a:xfrm>
          <a:prstGeom prst="line">
            <a:avLst/>
          </a:prstGeom>
          <a:noFill/>
          <a:ln w="19050">
            <a:solidFill>
              <a:srgbClr val="5B6B82"/>
            </a:solidFill>
            <a:prstDash val="solid"/>
            <a:tailEnd type="triangle"/>
          </a:ln>
        </p:spPr>
        <p:txBody>
          <a:bodyPr/>
          <a:lstStyle/>
          <a:p>
            <a:endParaRPr lang="en-IN"/>
          </a:p>
        </p:txBody>
      </p:sp>
      <p:sp>
        <p:nvSpPr>
          <p:cNvPr id="28" name="Shape 25"/>
          <p:cNvSpPr/>
          <p:nvPr/>
        </p:nvSpPr>
        <p:spPr>
          <a:xfrm>
            <a:off x="5669280" y="2761488"/>
            <a:ext cx="0" cy="347472"/>
          </a:xfrm>
          <a:prstGeom prst="line">
            <a:avLst/>
          </a:prstGeom>
          <a:noFill/>
          <a:ln w="19050">
            <a:solidFill>
              <a:srgbClr val="5B6B82"/>
            </a:solidFill>
            <a:prstDash val="solid"/>
            <a:tailEnd type="triangle"/>
          </a:ln>
        </p:spPr>
        <p:txBody>
          <a:bodyPr/>
          <a:lstStyle/>
          <a:p>
            <a:endParaRPr lang="en-IN"/>
          </a:p>
        </p:txBody>
      </p:sp>
      <p:sp>
        <p:nvSpPr>
          <p:cNvPr id="29" name="Shape 26"/>
          <p:cNvSpPr/>
          <p:nvPr/>
        </p:nvSpPr>
        <p:spPr>
          <a:xfrm>
            <a:off x="6035040" y="2761488"/>
            <a:ext cx="365760" cy="347472"/>
          </a:xfrm>
          <a:prstGeom prst="line">
            <a:avLst/>
          </a:prstGeom>
          <a:noFill/>
          <a:ln w="19050">
            <a:solidFill>
              <a:srgbClr val="5B6B82"/>
            </a:solidFill>
            <a:prstDash val="solid"/>
            <a:tailEnd type="triangle"/>
          </a:ln>
        </p:spPr>
        <p:txBody>
          <a:bodyPr/>
          <a:lstStyle/>
          <a:p>
            <a:endParaRPr lang="en-IN"/>
          </a:p>
        </p:txBody>
      </p:sp>
      <p:sp>
        <p:nvSpPr>
          <p:cNvPr id="30" name="Text 27"/>
          <p:cNvSpPr txBox="1"/>
          <p:nvPr/>
        </p:nvSpPr>
        <p:spPr>
          <a:xfrm>
            <a:off x="6949440" y="3154680"/>
            <a:ext cx="1645920" cy="27432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Simple illustration</a:t>
            </a:r>
            <a:endParaRPr lang="en-US" sz="1000" dirty="0"/>
          </a:p>
        </p:txBody>
      </p:sp>
      <p:sp>
        <p:nvSpPr>
          <p:cNvPr id="31" name="Text 28"/>
          <p:cNvSpPr txBox="1"/>
          <p:nvPr/>
        </p:nvSpPr>
        <p:spPr>
          <a:xfrm>
            <a:off x="4892040" y="356616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Uses decision rules on features</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Splits the data step by step</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Easy to understand</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Notebook F1 Score: 0.4242</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Random Forest</a:t>
            </a:r>
            <a:endParaRPr lang="en-US" sz="2800" dirty="0"/>
          </a:p>
        </p:txBody>
      </p:sp>
      <p:sp>
        <p:nvSpPr>
          <p:cNvPr id="4" name="Text 1"/>
          <p:cNvSpPr txBox="1"/>
          <p:nvPr/>
        </p:nvSpPr>
        <p:spPr>
          <a:xfrm>
            <a:off x="457200" y="1783080"/>
            <a:ext cx="1463040" cy="1097280"/>
          </a:xfrm>
          <a:prstGeom prst="roundRect">
            <a:avLst>
              <a:gd name="adj" fmla="val 6667"/>
            </a:avLst>
          </a:prstGeom>
          <a:solidFill>
            <a:srgbClr val="0B1F3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Customer Data</a:t>
            </a:r>
            <a:endParaRPr lang="en-US" sz="1300" dirty="0"/>
          </a:p>
        </p:txBody>
      </p:sp>
      <p:sp>
        <p:nvSpPr>
          <p:cNvPr id="5" name="Text 2"/>
          <p:cNvSpPr txBox="1"/>
          <p:nvPr/>
        </p:nvSpPr>
        <p:spPr>
          <a:xfrm>
            <a:off x="2651760" y="1143000"/>
            <a:ext cx="1463040" cy="457200"/>
          </a:xfrm>
          <a:prstGeom prst="roundRect">
            <a:avLst>
              <a:gd name="adj" fmla="val 16000"/>
            </a:avLst>
          </a:prstGeom>
          <a:solidFill>
            <a:srgbClr val="16325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Tree 1</a:t>
            </a:r>
            <a:endParaRPr lang="en-US" sz="1200" dirty="0"/>
          </a:p>
        </p:txBody>
      </p:sp>
      <p:sp>
        <p:nvSpPr>
          <p:cNvPr id="6" name="Shape 3"/>
          <p:cNvSpPr/>
          <p:nvPr/>
        </p:nvSpPr>
        <p:spPr>
          <a:xfrm flipV="1">
            <a:off x="1938528" y="1371600"/>
            <a:ext cx="694944" cy="960120"/>
          </a:xfrm>
          <a:prstGeom prst="line">
            <a:avLst/>
          </a:prstGeom>
          <a:noFill/>
          <a:ln w="19050">
            <a:solidFill>
              <a:srgbClr val="5B6B82"/>
            </a:solidFill>
            <a:prstDash val="solid"/>
            <a:tailEnd type="triangle"/>
          </a:ln>
        </p:spPr>
        <p:txBody>
          <a:bodyPr/>
          <a:lstStyle/>
          <a:p>
            <a:endParaRPr lang="en-IN"/>
          </a:p>
        </p:txBody>
      </p:sp>
      <p:sp>
        <p:nvSpPr>
          <p:cNvPr id="7" name="Shape 4"/>
          <p:cNvSpPr/>
          <p:nvPr/>
        </p:nvSpPr>
        <p:spPr>
          <a:xfrm>
            <a:off x="4133088" y="1371600"/>
            <a:ext cx="694944" cy="960120"/>
          </a:xfrm>
          <a:prstGeom prst="line">
            <a:avLst/>
          </a:prstGeom>
          <a:noFill/>
          <a:ln w="19050">
            <a:solidFill>
              <a:srgbClr val="5B6B82"/>
            </a:solidFill>
            <a:prstDash val="solid"/>
            <a:tailEnd type="triangle"/>
          </a:ln>
        </p:spPr>
        <p:txBody>
          <a:bodyPr/>
          <a:lstStyle/>
          <a:p>
            <a:endParaRPr lang="en-IN"/>
          </a:p>
        </p:txBody>
      </p:sp>
      <p:sp>
        <p:nvSpPr>
          <p:cNvPr id="8" name="Text 5"/>
          <p:cNvSpPr txBox="1"/>
          <p:nvPr/>
        </p:nvSpPr>
        <p:spPr>
          <a:xfrm>
            <a:off x="2651760" y="1783080"/>
            <a:ext cx="1463040" cy="457200"/>
          </a:xfrm>
          <a:prstGeom prst="roundRect">
            <a:avLst>
              <a:gd name="adj" fmla="val 16000"/>
            </a:avLst>
          </a:prstGeom>
          <a:solidFill>
            <a:srgbClr val="16325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Tree 2</a:t>
            </a:r>
            <a:endParaRPr lang="en-US" sz="1200" dirty="0"/>
          </a:p>
        </p:txBody>
      </p:sp>
      <p:sp>
        <p:nvSpPr>
          <p:cNvPr id="9" name="Shape 6"/>
          <p:cNvSpPr/>
          <p:nvPr/>
        </p:nvSpPr>
        <p:spPr>
          <a:xfrm flipV="1">
            <a:off x="1938528" y="2011680"/>
            <a:ext cx="694944" cy="320040"/>
          </a:xfrm>
          <a:prstGeom prst="line">
            <a:avLst/>
          </a:prstGeom>
          <a:noFill/>
          <a:ln w="19050">
            <a:solidFill>
              <a:srgbClr val="5B6B82"/>
            </a:solidFill>
            <a:prstDash val="solid"/>
            <a:tailEnd type="triangle"/>
          </a:ln>
        </p:spPr>
        <p:txBody>
          <a:bodyPr/>
          <a:lstStyle/>
          <a:p>
            <a:endParaRPr lang="en-IN"/>
          </a:p>
        </p:txBody>
      </p:sp>
      <p:sp>
        <p:nvSpPr>
          <p:cNvPr id="10" name="Shape 7"/>
          <p:cNvSpPr/>
          <p:nvPr/>
        </p:nvSpPr>
        <p:spPr>
          <a:xfrm>
            <a:off x="4133088" y="2011680"/>
            <a:ext cx="694944" cy="320040"/>
          </a:xfrm>
          <a:prstGeom prst="line">
            <a:avLst/>
          </a:prstGeom>
          <a:noFill/>
          <a:ln w="19050">
            <a:solidFill>
              <a:srgbClr val="5B6B82"/>
            </a:solidFill>
            <a:prstDash val="solid"/>
            <a:tailEnd type="triangle"/>
          </a:ln>
        </p:spPr>
        <p:txBody>
          <a:bodyPr/>
          <a:lstStyle/>
          <a:p>
            <a:endParaRPr lang="en-IN"/>
          </a:p>
        </p:txBody>
      </p:sp>
      <p:sp>
        <p:nvSpPr>
          <p:cNvPr id="11" name="Text 8"/>
          <p:cNvSpPr txBox="1"/>
          <p:nvPr/>
        </p:nvSpPr>
        <p:spPr>
          <a:xfrm>
            <a:off x="2651760" y="2423160"/>
            <a:ext cx="1463040" cy="457200"/>
          </a:xfrm>
          <a:prstGeom prst="roundRect">
            <a:avLst>
              <a:gd name="adj" fmla="val 16000"/>
            </a:avLst>
          </a:prstGeom>
          <a:solidFill>
            <a:srgbClr val="16325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Tree 3</a:t>
            </a:r>
            <a:endParaRPr lang="en-US" sz="1200" dirty="0"/>
          </a:p>
        </p:txBody>
      </p:sp>
      <p:sp>
        <p:nvSpPr>
          <p:cNvPr id="12" name="Shape 9"/>
          <p:cNvSpPr/>
          <p:nvPr/>
        </p:nvSpPr>
        <p:spPr>
          <a:xfrm>
            <a:off x="1938528" y="2331720"/>
            <a:ext cx="694944" cy="320040"/>
          </a:xfrm>
          <a:prstGeom prst="line">
            <a:avLst/>
          </a:prstGeom>
          <a:noFill/>
          <a:ln w="19050">
            <a:solidFill>
              <a:srgbClr val="5B6B82"/>
            </a:solidFill>
            <a:prstDash val="solid"/>
            <a:tailEnd type="triangle"/>
          </a:ln>
        </p:spPr>
        <p:txBody>
          <a:bodyPr/>
          <a:lstStyle/>
          <a:p>
            <a:endParaRPr lang="en-IN"/>
          </a:p>
        </p:txBody>
      </p:sp>
      <p:sp>
        <p:nvSpPr>
          <p:cNvPr id="13" name="Shape 10"/>
          <p:cNvSpPr/>
          <p:nvPr/>
        </p:nvSpPr>
        <p:spPr>
          <a:xfrm flipV="1">
            <a:off x="4133088" y="2331720"/>
            <a:ext cx="694944" cy="320040"/>
          </a:xfrm>
          <a:prstGeom prst="line">
            <a:avLst/>
          </a:prstGeom>
          <a:noFill/>
          <a:ln w="19050">
            <a:solidFill>
              <a:srgbClr val="5B6B82"/>
            </a:solidFill>
            <a:prstDash val="solid"/>
            <a:tailEnd type="triangle"/>
          </a:ln>
        </p:spPr>
        <p:txBody>
          <a:bodyPr/>
          <a:lstStyle/>
          <a:p>
            <a:endParaRPr lang="en-IN"/>
          </a:p>
        </p:txBody>
      </p:sp>
      <p:sp>
        <p:nvSpPr>
          <p:cNvPr id="14" name="Text 11"/>
          <p:cNvSpPr txBox="1"/>
          <p:nvPr/>
        </p:nvSpPr>
        <p:spPr>
          <a:xfrm>
            <a:off x="2651760" y="3063240"/>
            <a:ext cx="1463040" cy="457200"/>
          </a:xfrm>
          <a:prstGeom prst="roundRect">
            <a:avLst>
              <a:gd name="adj" fmla="val 16000"/>
            </a:avLst>
          </a:prstGeom>
          <a:solidFill>
            <a:srgbClr val="16325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Tree 4</a:t>
            </a:r>
            <a:endParaRPr lang="en-US" sz="1200" dirty="0"/>
          </a:p>
        </p:txBody>
      </p:sp>
      <p:sp>
        <p:nvSpPr>
          <p:cNvPr id="15" name="Shape 12"/>
          <p:cNvSpPr/>
          <p:nvPr/>
        </p:nvSpPr>
        <p:spPr>
          <a:xfrm>
            <a:off x="1938528" y="2331720"/>
            <a:ext cx="694944" cy="960120"/>
          </a:xfrm>
          <a:prstGeom prst="line">
            <a:avLst/>
          </a:prstGeom>
          <a:noFill/>
          <a:ln w="19050">
            <a:solidFill>
              <a:srgbClr val="5B6B82"/>
            </a:solidFill>
            <a:prstDash val="solid"/>
            <a:tailEnd type="triangle"/>
          </a:ln>
        </p:spPr>
        <p:txBody>
          <a:bodyPr/>
          <a:lstStyle/>
          <a:p>
            <a:endParaRPr lang="en-IN"/>
          </a:p>
        </p:txBody>
      </p:sp>
      <p:sp>
        <p:nvSpPr>
          <p:cNvPr id="16" name="Shape 13"/>
          <p:cNvSpPr/>
          <p:nvPr/>
        </p:nvSpPr>
        <p:spPr>
          <a:xfrm flipV="1">
            <a:off x="4133088" y="2331720"/>
            <a:ext cx="694944" cy="960120"/>
          </a:xfrm>
          <a:prstGeom prst="line">
            <a:avLst/>
          </a:prstGeom>
          <a:noFill/>
          <a:ln w="19050">
            <a:solidFill>
              <a:srgbClr val="5B6B82"/>
            </a:solidFill>
            <a:prstDash val="solid"/>
            <a:tailEnd type="triangle"/>
          </a:ln>
        </p:spPr>
        <p:txBody>
          <a:bodyPr/>
          <a:lstStyle/>
          <a:p>
            <a:endParaRPr lang="en-IN"/>
          </a:p>
        </p:txBody>
      </p:sp>
      <p:sp>
        <p:nvSpPr>
          <p:cNvPr id="17" name="Text 14"/>
          <p:cNvSpPr txBox="1"/>
          <p:nvPr/>
        </p:nvSpPr>
        <p:spPr>
          <a:xfrm>
            <a:off x="4846320" y="1783080"/>
            <a:ext cx="1463040" cy="1097280"/>
          </a:xfrm>
          <a:prstGeom prst="roundRect">
            <a:avLst>
              <a:gd name="adj" fmla="val 6667"/>
            </a:avLst>
          </a:prstGeom>
          <a:solidFill>
            <a:srgbClr val="16325C"/>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Combined Prediction</a:t>
            </a:r>
            <a:endParaRPr lang="en-US" sz="1300" dirty="0"/>
          </a:p>
        </p:txBody>
      </p:sp>
      <p:sp>
        <p:nvSpPr>
          <p:cNvPr id="18" name="Shape 15"/>
          <p:cNvSpPr/>
          <p:nvPr/>
        </p:nvSpPr>
        <p:spPr>
          <a:xfrm>
            <a:off x="6327648" y="2331720"/>
            <a:ext cx="694944" cy="914"/>
          </a:xfrm>
          <a:prstGeom prst="line">
            <a:avLst/>
          </a:prstGeom>
          <a:noFill/>
          <a:ln w="19050">
            <a:solidFill>
              <a:srgbClr val="5B6B82"/>
            </a:solidFill>
            <a:prstDash val="solid"/>
            <a:tailEnd type="triangle"/>
          </a:ln>
        </p:spPr>
        <p:txBody>
          <a:bodyPr/>
          <a:lstStyle/>
          <a:p>
            <a:endParaRPr lang="en-IN"/>
          </a:p>
        </p:txBody>
      </p:sp>
      <p:sp>
        <p:nvSpPr>
          <p:cNvPr id="19" name="Text 16"/>
          <p:cNvSpPr txBox="1"/>
          <p:nvPr/>
        </p:nvSpPr>
        <p:spPr>
          <a:xfrm>
            <a:off x="7040880" y="1783080"/>
            <a:ext cx="1645920" cy="1097280"/>
          </a:xfrm>
          <a:prstGeom prst="roundRect">
            <a:avLst>
              <a:gd name="adj" fmla="val 6667"/>
            </a:avLst>
          </a:prstGeom>
          <a:solidFill>
            <a:srgbClr val="14B8A6"/>
          </a:solidFill>
          <a:ln/>
        </p:spPr>
        <p:txBody>
          <a:bodyPr wrap="square" lIns="635" tIns="635" rIns="635" bIns="635"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Churn Prediction</a:t>
            </a:r>
            <a:endParaRPr lang="en-US" sz="1300" dirty="0"/>
          </a:p>
        </p:txBody>
      </p:sp>
      <p:sp>
        <p:nvSpPr>
          <p:cNvPr id="20" name="Shape 17"/>
          <p:cNvSpPr/>
          <p:nvPr/>
        </p:nvSpPr>
        <p:spPr>
          <a:xfrm>
            <a:off x="457200" y="3749040"/>
            <a:ext cx="8229600" cy="914400"/>
          </a:xfrm>
          <a:prstGeom prst="roundRect">
            <a:avLst>
              <a:gd name="adj" fmla="val 8000"/>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21" name="Text 18"/>
          <p:cNvSpPr txBox="1"/>
          <p:nvPr/>
        </p:nvSpPr>
        <p:spPr>
          <a:xfrm>
            <a:off x="685800" y="3858768"/>
            <a:ext cx="7772400" cy="731520"/>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Notebook configuration: </a:t>
            </a:r>
            <a:r>
              <a:rPr lang="en-US" sz="1200" dirty="0">
                <a:solidFill>
                  <a:srgbClr val="1B2A41"/>
                </a:solidFill>
                <a:latin typeface="Calibri" pitchFamily="34" charset="0"/>
                <a:ea typeface="Calibri" pitchFamily="34" charset="-122"/>
                <a:cs typeface="Calibri" pitchFamily="34" charset="-120"/>
              </a:rPr>
              <a:t>RandomForestClassifier(n_estimators=100, random_state=42)</a:t>
            </a:r>
            <a:endParaRPr lang="en-US" sz="1200" dirty="0"/>
          </a:p>
          <a:p>
            <a:pPr marL="0" indent="0">
              <a:buNone/>
            </a:pPr>
            <a:r>
              <a:rPr lang="en-US" sz="1200" b="1" dirty="0">
                <a:solidFill>
                  <a:srgbClr val="0B1F3A"/>
                </a:solidFill>
                <a:latin typeface="Calibri" pitchFamily="34" charset="0"/>
                <a:ea typeface="Calibri" pitchFamily="34" charset="-122"/>
                <a:cs typeface="Calibri" pitchFamily="34" charset="-120"/>
              </a:rPr>
              <a:t>Test results: </a:t>
            </a:r>
            <a:r>
              <a:rPr lang="en-US" sz="1200" dirty="0">
                <a:solidFill>
                  <a:srgbClr val="1B2A41"/>
                </a:solidFill>
                <a:latin typeface="Calibri" pitchFamily="34" charset="0"/>
                <a:ea typeface="Calibri" pitchFamily="34" charset="-122"/>
                <a:cs typeface="Calibri" pitchFamily="34" charset="-120"/>
              </a:rPr>
              <a:t>Accuracy 52.78%  |  Precision 0.5833  |  Recall 0.3684  |  F1 0.4516  |  ROC-AUC 0.6904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Bagging &amp; Boosting</a:t>
            </a:r>
            <a:endParaRPr lang="en-US" sz="2800" dirty="0"/>
          </a:p>
        </p:txBody>
      </p:sp>
      <p:sp>
        <p:nvSpPr>
          <p:cNvPr id="4" name="Shape 1"/>
          <p:cNvSpPr/>
          <p:nvPr/>
        </p:nvSpPr>
        <p:spPr>
          <a:xfrm>
            <a:off x="457200" y="960120"/>
            <a:ext cx="8229600" cy="1691640"/>
          </a:xfrm>
          <a:prstGeom prst="roundRect">
            <a:avLst>
              <a:gd name="adj" fmla="val 4324"/>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5" name="Text 2"/>
          <p:cNvSpPr txBox="1"/>
          <p:nvPr/>
        </p:nvSpPr>
        <p:spPr>
          <a:xfrm>
            <a:off x="640080" y="1097280"/>
            <a:ext cx="2743200" cy="137160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BAGGING</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Models work independently. Predictions are combined. Example: Random Forest.</a:t>
            </a:r>
            <a:endParaRPr lang="en-US" sz="1200" dirty="0"/>
          </a:p>
        </p:txBody>
      </p:sp>
      <p:sp>
        <p:nvSpPr>
          <p:cNvPr id="6" name="Text 3"/>
          <p:cNvSpPr txBox="1"/>
          <p:nvPr/>
        </p:nvSpPr>
        <p:spPr>
          <a:xfrm>
            <a:off x="3840480" y="1097280"/>
            <a:ext cx="1371600" cy="384048"/>
          </a:xfrm>
          <a:prstGeom prst="roundRect">
            <a:avLst>
              <a:gd name="adj" fmla="val 19048"/>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1</a:t>
            </a:r>
            <a:endParaRPr lang="en-US" sz="1100" dirty="0"/>
          </a:p>
        </p:txBody>
      </p:sp>
      <p:sp>
        <p:nvSpPr>
          <p:cNvPr id="7" name="Shape 4"/>
          <p:cNvSpPr/>
          <p:nvPr/>
        </p:nvSpPr>
        <p:spPr>
          <a:xfrm>
            <a:off x="5230368" y="1289304"/>
            <a:ext cx="1335024" cy="585216"/>
          </a:xfrm>
          <a:prstGeom prst="line">
            <a:avLst/>
          </a:prstGeom>
          <a:noFill/>
          <a:ln w="19050">
            <a:solidFill>
              <a:srgbClr val="5B6B82"/>
            </a:solidFill>
            <a:prstDash val="solid"/>
            <a:tailEnd type="triangle"/>
          </a:ln>
        </p:spPr>
        <p:txBody>
          <a:bodyPr/>
          <a:lstStyle/>
          <a:p>
            <a:endParaRPr lang="en-IN"/>
          </a:p>
        </p:txBody>
      </p:sp>
      <p:sp>
        <p:nvSpPr>
          <p:cNvPr id="8" name="Text 5"/>
          <p:cNvSpPr txBox="1"/>
          <p:nvPr/>
        </p:nvSpPr>
        <p:spPr>
          <a:xfrm>
            <a:off x="3840480" y="1554480"/>
            <a:ext cx="1371600" cy="384048"/>
          </a:xfrm>
          <a:prstGeom prst="roundRect">
            <a:avLst>
              <a:gd name="adj" fmla="val 19048"/>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2</a:t>
            </a:r>
            <a:endParaRPr lang="en-US" sz="1100" dirty="0"/>
          </a:p>
        </p:txBody>
      </p:sp>
      <p:sp>
        <p:nvSpPr>
          <p:cNvPr id="9" name="Shape 6"/>
          <p:cNvSpPr/>
          <p:nvPr/>
        </p:nvSpPr>
        <p:spPr>
          <a:xfrm>
            <a:off x="5230368" y="1746504"/>
            <a:ext cx="1335024" cy="128016"/>
          </a:xfrm>
          <a:prstGeom prst="line">
            <a:avLst/>
          </a:prstGeom>
          <a:noFill/>
          <a:ln w="19050">
            <a:solidFill>
              <a:srgbClr val="5B6B82"/>
            </a:solidFill>
            <a:prstDash val="solid"/>
            <a:tailEnd type="triangle"/>
          </a:ln>
        </p:spPr>
        <p:txBody>
          <a:bodyPr/>
          <a:lstStyle/>
          <a:p>
            <a:endParaRPr lang="en-IN"/>
          </a:p>
        </p:txBody>
      </p:sp>
      <p:sp>
        <p:nvSpPr>
          <p:cNvPr id="10" name="Text 7"/>
          <p:cNvSpPr txBox="1"/>
          <p:nvPr/>
        </p:nvSpPr>
        <p:spPr>
          <a:xfrm>
            <a:off x="3840480" y="2011680"/>
            <a:ext cx="1371600" cy="384048"/>
          </a:xfrm>
          <a:prstGeom prst="roundRect">
            <a:avLst>
              <a:gd name="adj" fmla="val 19048"/>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3</a:t>
            </a:r>
            <a:endParaRPr lang="en-US" sz="1100" dirty="0"/>
          </a:p>
        </p:txBody>
      </p:sp>
      <p:sp>
        <p:nvSpPr>
          <p:cNvPr id="11" name="Shape 8"/>
          <p:cNvSpPr/>
          <p:nvPr/>
        </p:nvSpPr>
        <p:spPr>
          <a:xfrm flipV="1">
            <a:off x="5230368" y="1874520"/>
            <a:ext cx="1335024" cy="329184"/>
          </a:xfrm>
          <a:prstGeom prst="line">
            <a:avLst/>
          </a:prstGeom>
          <a:noFill/>
          <a:ln w="19050">
            <a:solidFill>
              <a:srgbClr val="5B6B82"/>
            </a:solidFill>
            <a:prstDash val="solid"/>
            <a:tailEnd type="triangle"/>
          </a:ln>
        </p:spPr>
        <p:txBody>
          <a:bodyPr/>
          <a:lstStyle/>
          <a:p>
            <a:endParaRPr lang="en-IN"/>
          </a:p>
        </p:txBody>
      </p:sp>
      <p:sp>
        <p:nvSpPr>
          <p:cNvPr id="12" name="Text 9"/>
          <p:cNvSpPr txBox="1"/>
          <p:nvPr/>
        </p:nvSpPr>
        <p:spPr>
          <a:xfrm>
            <a:off x="6583680" y="1600200"/>
            <a:ext cx="1828800" cy="548640"/>
          </a:xfrm>
          <a:prstGeom prst="roundRect">
            <a:avLst>
              <a:gd name="adj" fmla="val 13333"/>
            </a:avLst>
          </a:prstGeom>
          <a:solidFill>
            <a:srgbClr val="14B8A6"/>
          </a:solidFill>
          <a:ln/>
        </p:spPr>
        <p:txBody>
          <a:bodyPr wrap="square" lIns="635" tIns="635" rIns="635" bIns="635"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Final Prediction</a:t>
            </a:r>
            <a:endParaRPr lang="en-US" sz="1200" dirty="0"/>
          </a:p>
        </p:txBody>
      </p:sp>
      <p:sp>
        <p:nvSpPr>
          <p:cNvPr id="13" name="Shape 10"/>
          <p:cNvSpPr/>
          <p:nvPr/>
        </p:nvSpPr>
        <p:spPr>
          <a:xfrm>
            <a:off x="457200" y="2834640"/>
            <a:ext cx="8229600" cy="1600200"/>
          </a:xfrm>
          <a:prstGeom prst="roundRect">
            <a:avLst>
              <a:gd name="adj" fmla="val 4571"/>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4" name="Text 11"/>
          <p:cNvSpPr txBox="1"/>
          <p:nvPr/>
        </p:nvSpPr>
        <p:spPr>
          <a:xfrm>
            <a:off x="640080" y="2971800"/>
            <a:ext cx="2743200" cy="137160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BOOSTING</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Models work sequentially. Each model tries to improve previous errors. Examples: AdaBoost, Gradient Boosting.</a:t>
            </a:r>
            <a:endParaRPr lang="en-US" sz="1200" dirty="0"/>
          </a:p>
        </p:txBody>
      </p:sp>
      <p:sp>
        <p:nvSpPr>
          <p:cNvPr id="15" name="Text 12"/>
          <p:cNvSpPr txBox="1"/>
          <p:nvPr/>
        </p:nvSpPr>
        <p:spPr>
          <a:xfrm>
            <a:off x="3657600" y="3429000"/>
            <a:ext cx="1005840"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1</a:t>
            </a:r>
            <a:endParaRPr lang="en-US" sz="1100" dirty="0"/>
          </a:p>
        </p:txBody>
      </p:sp>
      <p:sp>
        <p:nvSpPr>
          <p:cNvPr id="16" name="Shape 13"/>
          <p:cNvSpPr/>
          <p:nvPr/>
        </p:nvSpPr>
        <p:spPr>
          <a:xfrm>
            <a:off x="4681728" y="3703320"/>
            <a:ext cx="237744" cy="914"/>
          </a:xfrm>
          <a:prstGeom prst="line">
            <a:avLst/>
          </a:prstGeom>
          <a:noFill/>
          <a:ln w="19050">
            <a:solidFill>
              <a:srgbClr val="5B6B82"/>
            </a:solidFill>
            <a:prstDash val="solid"/>
            <a:tailEnd type="triangle"/>
          </a:ln>
        </p:spPr>
        <p:txBody>
          <a:bodyPr/>
          <a:lstStyle/>
          <a:p>
            <a:endParaRPr lang="en-IN"/>
          </a:p>
        </p:txBody>
      </p:sp>
      <p:sp>
        <p:nvSpPr>
          <p:cNvPr id="17" name="Text 14"/>
          <p:cNvSpPr txBox="1"/>
          <p:nvPr/>
        </p:nvSpPr>
        <p:spPr>
          <a:xfrm>
            <a:off x="4937760" y="3429000"/>
            <a:ext cx="1005840"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2</a:t>
            </a:r>
            <a:endParaRPr lang="en-US" sz="1100" dirty="0"/>
          </a:p>
        </p:txBody>
      </p:sp>
      <p:sp>
        <p:nvSpPr>
          <p:cNvPr id="18" name="Shape 15"/>
          <p:cNvSpPr/>
          <p:nvPr/>
        </p:nvSpPr>
        <p:spPr>
          <a:xfrm>
            <a:off x="5961888" y="3703320"/>
            <a:ext cx="237744" cy="914"/>
          </a:xfrm>
          <a:prstGeom prst="line">
            <a:avLst/>
          </a:prstGeom>
          <a:noFill/>
          <a:ln w="19050">
            <a:solidFill>
              <a:srgbClr val="5B6B82"/>
            </a:solidFill>
            <a:prstDash val="solid"/>
            <a:tailEnd type="triangle"/>
          </a:ln>
        </p:spPr>
        <p:txBody>
          <a:bodyPr/>
          <a:lstStyle/>
          <a:p>
            <a:endParaRPr lang="en-IN"/>
          </a:p>
        </p:txBody>
      </p:sp>
      <p:sp>
        <p:nvSpPr>
          <p:cNvPr id="19" name="Text 16"/>
          <p:cNvSpPr txBox="1"/>
          <p:nvPr/>
        </p:nvSpPr>
        <p:spPr>
          <a:xfrm>
            <a:off x="6217920" y="3429000"/>
            <a:ext cx="1005840" cy="548640"/>
          </a:xfrm>
          <a:prstGeom prst="roundRect">
            <a:avLst>
              <a:gd name="adj" fmla="val 13333"/>
            </a:avLst>
          </a:prstGeom>
          <a:solidFill>
            <a:srgbClr val="16325C"/>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 3</a:t>
            </a:r>
            <a:endParaRPr lang="en-US" sz="1100" dirty="0"/>
          </a:p>
        </p:txBody>
      </p:sp>
      <p:sp>
        <p:nvSpPr>
          <p:cNvPr id="20" name="Shape 17"/>
          <p:cNvSpPr/>
          <p:nvPr/>
        </p:nvSpPr>
        <p:spPr>
          <a:xfrm>
            <a:off x="7242048" y="3703320"/>
            <a:ext cx="237744" cy="914"/>
          </a:xfrm>
          <a:prstGeom prst="line">
            <a:avLst/>
          </a:prstGeom>
          <a:noFill/>
          <a:ln w="19050">
            <a:solidFill>
              <a:srgbClr val="5B6B82"/>
            </a:solidFill>
            <a:prstDash val="solid"/>
            <a:tailEnd type="triangle"/>
          </a:ln>
        </p:spPr>
        <p:txBody>
          <a:bodyPr/>
          <a:lstStyle/>
          <a:p>
            <a:endParaRPr lang="en-IN"/>
          </a:p>
        </p:txBody>
      </p:sp>
      <p:sp>
        <p:nvSpPr>
          <p:cNvPr id="21" name="Text 18"/>
          <p:cNvSpPr txBox="1"/>
          <p:nvPr/>
        </p:nvSpPr>
        <p:spPr>
          <a:xfrm>
            <a:off x="7498080" y="3429000"/>
            <a:ext cx="1005840" cy="548640"/>
          </a:xfrm>
          <a:prstGeom prst="roundRect">
            <a:avLst>
              <a:gd name="adj" fmla="val 13333"/>
            </a:avLst>
          </a:prstGeom>
          <a:solidFill>
            <a:srgbClr val="14B8A6"/>
          </a:solidFill>
          <a:ln/>
        </p:spPr>
        <p:txBody>
          <a:bodyPr wrap="square" lIns="635" tIns="635" rIns="635" bIns="635"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Final Prediction</a:t>
            </a:r>
            <a:endParaRPr lang="en-US" sz="1100" dirty="0"/>
          </a:p>
        </p:txBody>
      </p:sp>
      <p:sp>
        <p:nvSpPr>
          <p:cNvPr id="22" name="Text 19"/>
          <p:cNvSpPr txBox="1"/>
          <p:nvPr/>
        </p:nvSpPr>
        <p:spPr>
          <a:xfrm>
            <a:off x="457200" y="4553712"/>
            <a:ext cx="8229600" cy="320040"/>
          </a:xfrm>
          <a:prstGeom prst="rect">
            <a:avLst/>
          </a:prstGeom>
          <a:noFill/>
          <a:ln/>
        </p:spPr>
        <p:txBody>
          <a:bodyPr wrap="square" lIns="0" tIns="0" rIns="0" bIns="0" rtlCol="0" anchor="t"/>
          <a:lstStyle/>
          <a:p>
            <a:pPr marL="0" indent="0" algn="ctr">
              <a:buNone/>
            </a:pPr>
            <a:r>
              <a:rPr lang="en-US" sz="1400" b="1" i="1" dirty="0">
                <a:solidFill>
                  <a:srgbClr val="0B1F3A"/>
                </a:solidFill>
                <a:latin typeface="Calibri" pitchFamily="34" charset="0"/>
                <a:ea typeface="Calibri" pitchFamily="34" charset="-122"/>
                <a:cs typeface="Calibri" pitchFamily="34" charset="-120"/>
              </a:rPr>
              <a:t>"Bagging works independently, while Boosting works sequentially."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AdaBoost &amp; Gradient Boosting</a:t>
            </a:r>
            <a:endParaRPr lang="en-US" sz="2800" dirty="0"/>
          </a:p>
        </p:txBody>
      </p:sp>
      <p:sp>
        <p:nvSpPr>
          <p:cNvPr id="4" name="Shape 1"/>
          <p:cNvSpPr/>
          <p:nvPr/>
        </p:nvSpPr>
        <p:spPr>
          <a:xfrm>
            <a:off x="457200" y="1005840"/>
            <a:ext cx="4023360" cy="3611880"/>
          </a:xfrm>
          <a:prstGeom prst="roundRect">
            <a:avLst>
              <a:gd name="adj" fmla="val 2025"/>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5" name="Text 2"/>
          <p:cNvSpPr txBox="1"/>
          <p:nvPr/>
        </p:nvSpPr>
        <p:spPr>
          <a:xfrm>
            <a:off x="640080" y="1115568"/>
            <a:ext cx="3657600" cy="59436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AdaBoost</a:t>
            </a:r>
            <a:endParaRPr lang="en-US" sz="1200" dirty="0"/>
          </a:p>
          <a:p>
            <a:pPr marL="0" indent="0">
              <a:buNone/>
            </a:pPr>
            <a:r>
              <a:rPr lang="en-US" sz="1200" i="1" dirty="0">
                <a:solidFill>
                  <a:srgbClr val="5B6B82"/>
                </a:solidFill>
                <a:latin typeface="Calibri" pitchFamily="34" charset="0"/>
                <a:ea typeface="Calibri" pitchFamily="34" charset="-122"/>
                <a:cs typeface="Calibri" pitchFamily="34" charset="-120"/>
              </a:rPr>
              <a:t>Adaptive Boosting</a:t>
            </a:r>
            <a:endParaRPr lang="en-US" sz="1200" dirty="0"/>
          </a:p>
        </p:txBody>
      </p:sp>
      <p:sp>
        <p:nvSpPr>
          <p:cNvPr id="6" name="Text 3"/>
          <p:cNvSpPr txBox="1"/>
          <p:nvPr/>
        </p:nvSpPr>
        <p:spPr>
          <a:xfrm>
            <a:off x="640080" y="1828800"/>
            <a:ext cx="3657600" cy="731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B2A41"/>
                </a:solidFill>
                <a:latin typeface="Calibri" pitchFamily="34" charset="0"/>
                <a:ea typeface="Calibri" pitchFamily="34" charset="-122"/>
                <a:cs typeface="Calibri" pitchFamily="34" charset="-120"/>
              </a:rPr>
              <a:t>Builds models sequentially</a:t>
            </a:r>
            <a:endParaRPr lang="en-US" sz="1250" dirty="0"/>
          </a:p>
          <a:p>
            <a:pPr marL="342900" indent="-342900">
              <a:spcAft>
                <a:spcPts val="400"/>
              </a:spcAft>
              <a:buSzPct val="100000"/>
              <a:buChar char="•"/>
            </a:pPr>
            <a:r>
              <a:rPr lang="en-US" sz="1250" dirty="0">
                <a:solidFill>
                  <a:srgbClr val="1B2A41"/>
                </a:solidFill>
                <a:latin typeface="Calibri" pitchFamily="34" charset="0"/>
                <a:ea typeface="Calibri" pitchFamily="34" charset="-122"/>
                <a:cs typeface="Calibri" pitchFamily="34" charset="-120"/>
              </a:rPr>
              <a:t>Focuses on difficult observations</a:t>
            </a:r>
            <a:endParaRPr lang="en-US" sz="1250" dirty="0"/>
          </a:p>
        </p:txBody>
      </p:sp>
      <p:sp>
        <p:nvSpPr>
          <p:cNvPr id="7" name="Text 4"/>
          <p:cNvSpPr txBox="1"/>
          <p:nvPr/>
        </p:nvSpPr>
        <p:spPr>
          <a:xfrm>
            <a:off x="640080" y="2697480"/>
            <a:ext cx="3657600" cy="777240"/>
          </a:xfrm>
          <a:prstGeom prst="roundRect">
            <a:avLst>
              <a:gd name="adj" fmla="val 9412"/>
            </a:avLst>
          </a:prstGeom>
          <a:solidFill>
            <a:srgbClr val="DDF4F0"/>
          </a:solidFill>
          <a:ln/>
        </p:spPr>
        <p:txBody>
          <a:bodyPr wrap="square" lIns="635" tIns="635" rIns="635" bIns="635" rtlCol="0" anchor="ctr"/>
          <a:lstStyle/>
          <a:p>
            <a:pPr marL="0" indent="0" algn="l">
              <a:buNone/>
            </a:pPr>
            <a:r>
              <a:rPr lang="en-US" sz="1100" b="1" dirty="0">
                <a:solidFill>
                  <a:srgbClr val="1B2A41"/>
                </a:solidFill>
                <a:latin typeface="Calibri" pitchFamily="34" charset="0"/>
                <a:ea typeface="Calibri" pitchFamily="34" charset="-122"/>
                <a:cs typeface="Calibri" pitchFamily="34" charset="-120"/>
              </a:rPr>
              <a:t>Notebook configuration</a:t>
            </a:r>
            <a:endParaRPr lang="en-US" sz="1200" dirty="0"/>
          </a:p>
          <a:p>
            <a:pPr marL="0" indent="0" algn="l">
              <a:buNone/>
            </a:pPr>
            <a:r>
              <a:rPr lang="en-US" sz="1100" dirty="0">
                <a:solidFill>
                  <a:srgbClr val="1B2A41"/>
                </a:solidFill>
                <a:latin typeface="Calibri" pitchFamily="34" charset="0"/>
                <a:ea typeface="Calibri" pitchFamily="34" charset="-122"/>
                <a:cs typeface="Calibri" pitchFamily="34" charset="-120"/>
              </a:rPr>
              <a:t>AdaBoostClassifier(n_estimators=100, random_state=42)</a:t>
            </a:r>
            <a:endParaRPr lang="en-US" sz="1200" dirty="0"/>
          </a:p>
        </p:txBody>
      </p:sp>
      <p:sp>
        <p:nvSpPr>
          <p:cNvPr id="8" name="Text 5"/>
          <p:cNvSpPr txBox="1"/>
          <p:nvPr/>
        </p:nvSpPr>
        <p:spPr>
          <a:xfrm>
            <a:off x="640080" y="3611880"/>
            <a:ext cx="3657600" cy="777240"/>
          </a:xfrm>
          <a:prstGeom prst="roundRect">
            <a:avLst>
              <a:gd name="adj" fmla="val 9412"/>
            </a:avLst>
          </a:prstGeom>
          <a:solidFill>
            <a:srgbClr val="0B1F3A"/>
          </a:solidFill>
          <a:ln/>
        </p:spPr>
        <p:txBody>
          <a:bodyPr wrap="square" lIns="635" tIns="635" rIns="635" bIns="635"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Test results</a:t>
            </a:r>
            <a:endParaRPr lang="en-US" sz="1200" dirty="0"/>
          </a:p>
          <a:p>
            <a:pPr marL="0" indent="0" algn="l">
              <a:buNone/>
            </a:pPr>
            <a:r>
              <a:rPr lang="en-US" sz="1050" dirty="0">
                <a:solidFill>
                  <a:srgbClr val="FFFFFF"/>
                </a:solidFill>
                <a:latin typeface="Calibri" pitchFamily="34" charset="0"/>
                <a:ea typeface="Calibri" pitchFamily="34" charset="-122"/>
                <a:cs typeface="Calibri" pitchFamily="34" charset="-120"/>
              </a:rPr>
              <a:t>Accuracy 61.11% | Precision 0.6923 | Recall 0.4737 | F1 0.5625 | AUC 0.6006</a:t>
            </a:r>
            <a:endParaRPr lang="en-US" sz="1200" dirty="0"/>
          </a:p>
        </p:txBody>
      </p:sp>
      <p:sp>
        <p:nvSpPr>
          <p:cNvPr id="9" name="Shape 6"/>
          <p:cNvSpPr/>
          <p:nvPr/>
        </p:nvSpPr>
        <p:spPr>
          <a:xfrm>
            <a:off x="4663440" y="1005840"/>
            <a:ext cx="4023360" cy="3611880"/>
          </a:xfrm>
          <a:prstGeom prst="roundRect">
            <a:avLst>
              <a:gd name="adj" fmla="val 2025"/>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0" name="Text 7"/>
          <p:cNvSpPr txBox="1"/>
          <p:nvPr/>
        </p:nvSpPr>
        <p:spPr>
          <a:xfrm>
            <a:off x="4846320" y="1115568"/>
            <a:ext cx="3657600" cy="59436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Gradient Boosting</a:t>
            </a:r>
            <a:endParaRPr lang="en-US" sz="1200" dirty="0"/>
          </a:p>
          <a:p>
            <a:pPr marL="0" indent="0">
              <a:buNone/>
            </a:pPr>
            <a:r>
              <a:rPr lang="en-US" sz="1200" i="1" dirty="0">
                <a:solidFill>
                  <a:srgbClr val="5B6B82"/>
                </a:solidFill>
                <a:latin typeface="Calibri" pitchFamily="34" charset="0"/>
                <a:ea typeface="Calibri" pitchFamily="34" charset="-122"/>
                <a:cs typeface="Calibri" pitchFamily="34" charset="-120"/>
              </a:rPr>
              <a:t>Boosting with decision trees</a:t>
            </a:r>
            <a:endParaRPr lang="en-US" sz="1200" dirty="0"/>
          </a:p>
        </p:txBody>
      </p:sp>
      <p:sp>
        <p:nvSpPr>
          <p:cNvPr id="11" name="Text 8"/>
          <p:cNvSpPr txBox="1"/>
          <p:nvPr/>
        </p:nvSpPr>
        <p:spPr>
          <a:xfrm>
            <a:off x="4846320" y="1828800"/>
            <a:ext cx="3657600" cy="731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B2A41"/>
                </a:solidFill>
                <a:latin typeface="Calibri" pitchFamily="34" charset="0"/>
                <a:ea typeface="Calibri" pitchFamily="34" charset="-122"/>
                <a:cs typeface="Calibri" pitchFamily="34" charset="-120"/>
              </a:rPr>
              <a:t>Builds models sequentially</a:t>
            </a:r>
            <a:endParaRPr lang="en-US" sz="1250" dirty="0"/>
          </a:p>
          <a:p>
            <a:pPr marL="342900" indent="-342900">
              <a:spcAft>
                <a:spcPts val="400"/>
              </a:spcAft>
              <a:buSzPct val="100000"/>
              <a:buChar char="•"/>
            </a:pPr>
            <a:r>
              <a:rPr lang="en-US" sz="1250" dirty="0">
                <a:solidFill>
                  <a:srgbClr val="1B2A41"/>
                </a:solidFill>
                <a:latin typeface="Calibri" pitchFamily="34" charset="0"/>
                <a:ea typeface="Calibri" pitchFamily="34" charset="-122"/>
                <a:cs typeface="Calibri" pitchFamily="34" charset="-120"/>
              </a:rPr>
              <a:t>Each tree reduces previous errors</a:t>
            </a:r>
            <a:endParaRPr lang="en-US" sz="1250" dirty="0"/>
          </a:p>
        </p:txBody>
      </p:sp>
      <p:sp>
        <p:nvSpPr>
          <p:cNvPr id="12" name="Text 9"/>
          <p:cNvSpPr txBox="1"/>
          <p:nvPr/>
        </p:nvSpPr>
        <p:spPr>
          <a:xfrm>
            <a:off x="4846320" y="2697480"/>
            <a:ext cx="3657600" cy="777240"/>
          </a:xfrm>
          <a:prstGeom prst="roundRect">
            <a:avLst>
              <a:gd name="adj" fmla="val 9412"/>
            </a:avLst>
          </a:prstGeom>
          <a:solidFill>
            <a:srgbClr val="DDF4F0"/>
          </a:solidFill>
          <a:ln/>
        </p:spPr>
        <p:txBody>
          <a:bodyPr wrap="square" lIns="635" tIns="635" rIns="635" bIns="635" rtlCol="0" anchor="ctr"/>
          <a:lstStyle/>
          <a:p>
            <a:pPr marL="0" indent="0" algn="l">
              <a:buNone/>
            </a:pPr>
            <a:r>
              <a:rPr lang="en-US" sz="1100" b="1" dirty="0">
                <a:solidFill>
                  <a:srgbClr val="1B2A41"/>
                </a:solidFill>
                <a:latin typeface="Calibri" pitchFamily="34" charset="0"/>
                <a:ea typeface="Calibri" pitchFamily="34" charset="-122"/>
                <a:cs typeface="Calibri" pitchFamily="34" charset="-120"/>
              </a:rPr>
              <a:t>Notebook configuration</a:t>
            </a:r>
            <a:endParaRPr lang="en-US" sz="1200" dirty="0"/>
          </a:p>
          <a:p>
            <a:pPr marL="0" indent="0" algn="l">
              <a:buNone/>
            </a:pPr>
            <a:r>
              <a:rPr lang="en-US" sz="1100" dirty="0">
                <a:solidFill>
                  <a:srgbClr val="1B2A41"/>
                </a:solidFill>
                <a:latin typeface="Calibri" pitchFamily="34" charset="0"/>
                <a:ea typeface="Calibri" pitchFamily="34" charset="-122"/>
                <a:cs typeface="Calibri" pitchFamily="34" charset="-120"/>
              </a:rPr>
              <a:t>GradientBoostingClassifier(n_estimators=100, learning_rate=0.1, max_depth=3, random_state=42)</a:t>
            </a:r>
            <a:endParaRPr lang="en-US" sz="1200" dirty="0"/>
          </a:p>
        </p:txBody>
      </p:sp>
      <p:sp>
        <p:nvSpPr>
          <p:cNvPr id="13" name="Text 10"/>
          <p:cNvSpPr txBox="1"/>
          <p:nvPr/>
        </p:nvSpPr>
        <p:spPr>
          <a:xfrm>
            <a:off x="4846320" y="3611880"/>
            <a:ext cx="3657600" cy="777240"/>
          </a:xfrm>
          <a:prstGeom prst="roundRect">
            <a:avLst>
              <a:gd name="adj" fmla="val 9412"/>
            </a:avLst>
          </a:prstGeom>
          <a:solidFill>
            <a:srgbClr val="0B1F3A"/>
          </a:solidFill>
          <a:ln/>
        </p:spPr>
        <p:txBody>
          <a:bodyPr wrap="square" lIns="635" tIns="635" rIns="635" bIns="635"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Test results</a:t>
            </a:r>
            <a:endParaRPr lang="en-US" sz="1200" dirty="0"/>
          </a:p>
          <a:p>
            <a:pPr marL="0" indent="0" algn="l">
              <a:buNone/>
            </a:pPr>
            <a:r>
              <a:rPr lang="en-US" sz="1050" dirty="0">
                <a:solidFill>
                  <a:srgbClr val="FFFFFF"/>
                </a:solidFill>
                <a:latin typeface="Calibri" pitchFamily="34" charset="0"/>
                <a:ea typeface="Calibri" pitchFamily="34" charset="-122"/>
                <a:cs typeface="Calibri" pitchFamily="34" charset="-120"/>
              </a:rPr>
              <a:t>Accuracy 55.56% | Precision 0.6000 | Recall 0.4737 | F1 0.5294 | AUC 0.6006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Model Training &amp; Comparison</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4389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CV Score</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Combined</a:t>
                      </a:r>
                      <a:endParaRPr lang="en-US" sz="120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38912">
                <a:tc>
                  <a:txBody>
                    <a:bodyPr/>
                    <a:lstStyle/>
                    <a:p>
                      <a:pPr marL="0" indent="0" algn="l">
                        <a:buNone/>
                      </a:pPr>
                      <a:r>
                        <a:rPr lang="en-US" sz="1250" dirty="0">
                          <a:solidFill>
                            <a:srgbClr val="1B2A41"/>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0.6111</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0.6471</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0.5789</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0.6111</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0.5966</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0.6053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50" b="1" dirty="0">
                          <a:solidFill>
                            <a:srgbClr val="1B2A41"/>
                          </a:solidFill>
                          <a:latin typeface="Calibri" pitchFamily="34" charset="0"/>
                          <a:ea typeface="Calibri" pitchFamily="34" charset="-122"/>
                          <a:cs typeface="Calibri" pitchFamily="34" charset="-120"/>
                        </a:rPr>
                        <a:t>KNN</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0.5833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0.5833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0.7368</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0.6512</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0.5414</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tc>
                  <a:txBody>
                    <a:bodyPr/>
                    <a:lstStyle/>
                    <a:p>
                      <a:pPr marL="0" indent="0" algn="ctr">
                        <a:buNone/>
                      </a:pPr>
                      <a:r>
                        <a:rPr lang="en-US" sz="1250" b="1" dirty="0">
                          <a:solidFill>
                            <a:srgbClr val="1B2A41"/>
                          </a:solidFill>
                          <a:latin typeface="Calibri" pitchFamily="34" charset="0"/>
                          <a:ea typeface="Calibri" pitchFamily="34" charset="-122"/>
                          <a:cs typeface="Calibri" pitchFamily="34" charset="-120"/>
                        </a:rPr>
                        <a:t>0.6073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DF4F0"/>
                    </a:solidFill>
                  </a:tcPr>
                </a:tc>
                <a:extLst>
                  <a:ext uri="{0D108BD9-81ED-4DB2-BD59-A6C34878D82A}">
                    <a16:rowId xmlns:a16="http://schemas.microsoft.com/office/drawing/2014/main" val="10002"/>
                  </a:ext>
                </a:extLst>
              </a:tr>
              <a:tr h="438912">
                <a:tc>
                  <a:txBody>
                    <a:bodyPr/>
                    <a:lstStyle/>
                    <a:p>
                      <a:pPr marL="0" indent="0" algn="l">
                        <a:buNone/>
                      </a:pPr>
                      <a:r>
                        <a:rPr lang="en-US" sz="1250" dirty="0">
                          <a:solidFill>
                            <a:srgbClr val="1B2A41"/>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0.4722</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0.5000</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0.3684</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0.4242</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0.5409</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0.4709</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250" dirty="0">
                          <a:solidFill>
                            <a:srgbClr val="1B2A41"/>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0.5278</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0.5833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0.3684</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0.4516</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0.5135</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0.4764</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250" dirty="0">
                          <a:solidFill>
                            <a:srgbClr val="1B2A41"/>
                          </a:solidFill>
                          <a:latin typeface="Calibri" pitchFamily="34" charset="0"/>
                          <a:ea typeface="Calibri" pitchFamily="34" charset="-122"/>
                          <a:cs typeface="Calibri" pitchFamily="34" charset="-120"/>
                        </a:rPr>
                        <a:t>AdaBoost</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0.6111</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0.6923</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0.4737</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0.5625</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0.5766</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0.5681</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250" dirty="0">
                          <a:solidFill>
                            <a:srgbClr val="1B2A41"/>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0.5556</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0.6000</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0.4737</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0.5294</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0.4796</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A41"/>
                          </a:solidFill>
                          <a:latin typeface="Calibri" pitchFamily="34" charset="0"/>
                          <a:ea typeface="Calibri" pitchFamily="34" charset="-122"/>
                          <a:cs typeface="Calibri" pitchFamily="34" charset="-120"/>
                        </a:rPr>
                        <a:t>0.5095</a:t>
                      </a:r>
                      <a:endParaRPr lang="en-US" sz="1250" dirty="0">
                        <a:latin typeface="Calibri" charset="0"/>
                        <a:ea typeface="Calibri" charset="0"/>
                        <a:cs typeface="Calibri" charset="0"/>
                      </a:endParaRPr>
                    </a:p>
                  </a:txBody>
                  <a:tcPr anchor="ct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251960"/>
            <a:ext cx="8229600" cy="457200"/>
          </a:xfrm>
          <a:prstGeom prst="rect">
            <a:avLst/>
          </a:prstGeom>
          <a:noFill/>
          <a:ln/>
        </p:spPr>
        <p:txBody>
          <a:bodyPr wrap="square" lIns="0" tIns="0" rIns="0" bIns="0" rtlCol="0" anchor="t"/>
          <a:lstStyle/>
          <a:p>
            <a:pPr marL="0" indent="0">
              <a:buNone/>
            </a:pPr>
            <a:r>
              <a:rPr lang="en-US" sz="1100" i="1" dirty="0">
                <a:solidFill>
                  <a:srgbClr val="5B6B82"/>
                </a:solidFill>
                <a:latin typeface="Calibri" pitchFamily="34" charset="0"/>
                <a:ea typeface="Calibri" pitchFamily="34" charset="-122"/>
                <a:cs typeface="Calibri" pitchFamily="34" charset="-120"/>
              </a:rPr>
              <a:t>CV Score = 5-fold cross-validation accuracy on training data. Combined = 0.6 x F1 + 0.4 x CV Score (used in the notebook to select the final model). Test set = 36 customers.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Final Model &amp; Results</a:t>
            </a:r>
            <a:endParaRPr lang="en-US" sz="2800" dirty="0"/>
          </a:p>
        </p:txBody>
      </p:sp>
      <p:pic>
        <p:nvPicPr>
          <p:cNvPr id="4" name="Image 0" descr="/home/claude/img/knn_cm.png"/>
          <p:cNvPicPr>
            <a:picLocks noChangeAspect="1"/>
          </p:cNvPicPr>
          <p:nvPr/>
        </p:nvPicPr>
        <p:blipFill>
          <a:blip r:embed="rId3"/>
          <a:stretch>
            <a:fillRect/>
          </a:stretch>
        </p:blipFill>
        <p:spPr>
          <a:xfrm>
            <a:off x="457200" y="960120"/>
            <a:ext cx="2679192" cy="2194560"/>
          </a:xfrm>
          <a:prstGeom prst="rect">
            <a:avLst/>
          </a:prstGeom>
        </p:spPr>
      </p:pic>
      <p:pic>
        <p:nvPicPr>
          <p:cNvPr id="5" name="Image 1" descr="/home/claude/img/knn_roc.png"/>
          <p:cNvPicPr>
            <a:picLocks noChangeAspect="1"/>
          </p:cNvPicPr>
          <p:nvPr/>
        </p:nvPicPr>
        <p:blipFill>
          <a:blip r:embed="rId4"/>
          <a:stretch>
            <a:fillRect/>
          </a:stretch>
        </p:blipFill>
        <p:spPr>
          <a:xfrm>
            <a:off x="3291840" y="960120"/>
            <a:ext cx="2926080" cy="2194560"/>
          </a:xfrm>
          <a:prstGeom prst="rect">
            <a:avLst/>
          </a:prstGeom>
        </p:spPr>
      </p:pic>
      <p:sp>
        <p:nvSpPr>
          <p:cNvPr id="6" name="Text 1"/>
          <p:cNvSpPr txBox="1"/>
          <p:nvPr/>
        </p:nvSpPr>
        <p:spPr>
          <a:xfrm>
            <a:off x="6400800" y="960120"/>
            <a:ext cx="1115568" cy="685800"/>
          </a:xfrm>
          <a:prstGeom prst="roundRect">
            <a:avLst>
              <a:gd name="adj" fmla="val 10667"/>
            </a:avLst>
          </a:prstGeom>
          <a:solidFill>
            <a:srgbClr val="0B1F3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KNN (K = 5)</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Final model</a:t>
            </a:r>
            <a:endParaRPr lang="en-US" sz="1200" dirty="0"/>
          </a:p>
        </p:txBody>
      </p:sp>
      <p:sp>
        <p:nvSpPr>
          <p:cNvPr id="7" name="Text 2"/>
          <p:cNvSpPr txBox="1"/>
          <p:nvPr/>
        </p:nvSpPr>
        <p:spPr>
          <a:xfrm>
            <a:off x="7571232" y="960120"/>
            <a:ext cx="1115568" cy="685800"/>
          </a:xfrm>
          <a:prstGeom prst="roundRect">
            <a:avLst>
              <a:gd name="adj" fmla="val 10667"/>
            </a:avLst>
          </a:prstGeom>
          <a:solidFill>
            <a:srgbClr val="16325C"/>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0.6512</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F1 Score</a:t>
            </a:r>
            <a:endParaRPr lang="en-US" sz="1200" dirty="0"/>
          </a:p>
        </p:txBody>
      </p:sp>
      <p:sp>
        <p:nvSpPr>
          <p:cNvPr id="8" name="Text 3"/>
          <p:cNvSpPr txBox="1"/>
          <p:nvPr/>
        </p:nvSpPr>
        <p:spPr>
          <a:xfrm>
            <a:off x="6400800" y="1719072"/>
            <a:ext cx="1115568" cy="685800"/>
          </a:xfrm>
          <a:prstGeom prst="roundRect">
            <a:avLst>
              <a:gd name="adj" fmla="val 10667"/>
            </a:avLst>
          </a:prstGeom>
          <a:solidFill>
            <a:srgbClr val="16325C"/>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0.5414</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CV Score</a:t>
            </a:r>
            <a:endParaRPr lang="en-US" sz="1200" dirty="0"/>
          </a:p>
        </p:txBody>
      </p:sp>
      <p:sp>
        <p:nvSpPr>
          <p:cNvPr id="9" name="Text 4"/>
          <p:cNvSpPr txBox="1"/>
          <p:nvPr/>
        </p:nvSpPr>
        <p:spPr>
          <a:xfrm>
            <a:off x="7571232" y="1719072"/>
            <a:ext cx="1115568" cy="685800"/>
          </a:xfrm>
          <a:prstGeom prst="roundRect">
            <a:avLst>
              <a:gd name="adj" fmla="val 10667"/>
            </a:avLst>
          </a:prstGeom>
          <a:solidFill>
            <a:srgbClr val="16325C"/>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58.33%</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Test Accuracy</a:t>
            </a:r>
            <a:endParaRPr lang="en-US" sz="1200" dirty="0"/>
          </a:p>
        </p:txBody>
      </p:sp>
      <p:sp>
        <p:nvSpPr>
          <p:cNvPr id="10" name="Text 5"/>
          <p:cNvSpPr txBox="1"/>
          <p:nvPr/>
        </p:nvSpPr>
        <p:spPr>
          <a:xfrm>
            <a:off x="6400800" y="2478024"/>
            <a:ext cx="1115568" cy="685800"/>
          </a:xfrm>
          <a:prstGeom prst="roundRect">
            <a:avLst>
              <a:gd name="adj" fmla="val 10667"/>
            </a:avLst>
          </a:prstGeom>
          <a:solidFill>
            <a:srgbClr val="16325C"/>
          </a:solidFill>
          <a:ln/>
        </p:spPr>
        <p:txBody>
          <a:bodyPr wrap="square" lIns="635" tIns="635" rIns="635" bIns="635"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0.7368</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Recall</a:t>
            </a:r>
            <a:endParaRPr lang="en-US" sz="1200" dirty="0"/>
          </a:p>
        </p:txBody>
      </p:sp>
      <p:sp>
        <p:nvSpPr>
          <p:cNvPr id="11" name="Text 6"/>
          <p:cNvSpPr txBox="1"/>
          <p:nvPr/>
        </p:nvSpPr>
        <p:spPr>
          <a:xfrm>
            <a:off x="7571232" y="2478024"/>
            <a:ext cx="1115568" cy="685800"/>
          </a:xfrm>
          <a:prstGeom prst="roundRect">
            <a:avLst>
              <a:gd name="adj" fmla="val 10667"/>
            </a:avLst>
          </a:prstGeom>
          <a:solidFill>
            <a:srgbClr val="14B8A6"/>
          </a:solidFill>
          <a:ln/>
        </p:spPr>
        <p:txBody>
          <a:bodyPr wrap="square" lIns="635" tIns="635" rIns="635" bIns="635"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0.6563</a:t>
            </a:r>
            <a:endParaRPr lang="en-US" sz="1200" dirty="0"/>
          </a:p>
          <a:p>
            <a:pPr marL="0" indent="0" algn="ctr">
              <a:buNone/>
            </a:pPr>
            <a:r>
              <a:rPr lang="en-US" sz="1000" dirty="0">
                <a:solidFill>
                  <a:srgbClr val="0B1F3A"/>
                </a:solidFill>
                <a:latin typeface="Calibri" pitchFamily="34" charset="0"/>
                <a:ea typeface="Calibri" pitchFamily="34" charset="-122"/>
                <a:cs typeface="Calibri" pitchFamily="34" charset="-120"/>
              </a:rPr>
              <a:t>ROC-AUC</a:t>
            </a:r>
            <a:endParaRPr lang="en-US" sz="1200" dirty="0"/>
          </a:p>
        </p:txBody>
      </p:sp>
      <p:sp>
        <p:nvSpPr>
          <p:cNvPr id="12" name="Shape 7"/>
          <p:cNvSpPr/>
          <p:nvPr/>
        </p:nvSpPr>
        <p:spPr>
          <a:xfrm>
            <a:off x="457200" y="333756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3" name="Text 8"/>
          <p:cNvSpPr txBox="1"/>
          <p:nvPr/>
        </p:nvSpPr>
        <p:spPr>
          <a:xfrm>
            <a:off x="585216" y="3429000"/>
            <a:ext cx="2423160" cy="118872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Important features (notebook)</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Contract Type, Satisfaction Score, Tenure, Monthly Charges, Support Calls appear useful.</a:t>
            </a:r>
            <a:endParaRPr lang="en-US" sz="1200" dirty="0"/>
          </a:p>
        </p:txBody>
      </p:sp>
      <p:sp>
        <p:nvSpPr>
          <p:cNvPr id="14" name="Shape 9"/>
          <p:cNvSpPr/>
          <p:nvPr/>
        </p:nvSpPr>
        <p:spPr>
          <a:xfrm>
            <a:off x="3291840" y="333756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5" name="Text 10"/>
          <p:cNvSpPr txBox="1"/>
          <p:nvPr/>
        </p:nvSpPr>
        <p:spPr>
          <a:xfrm>
            <a:off x="3419856" y="3429000"/>
            <a:ext cx="2423160" cy="118872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Model errors</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False Negatives: 5 (missed churners). False Positives: 10 (predicted churn, but stayed).</a:t>
            </a:r>
            <a:endParaRPr lang="en-US" sz="1200" dirty="0"/>
          </a:p>
        </p:txBody>
      </p:sp>
      <p:sp>
        <p:nvSpPr>
          <p:cNvPr id="16" name="Shape 11"/>
          <p:cNvSpPr/>
          <p:nvPr/>
        </p:nvSpPr>
        <p:spPr>
          <a:xfrm>
            <a:off x="6126480" y="3337560"/>
            <a:ext cx="2651760" cy="1325880"/>
          </a:xfrm>
          <a:prstGeom prst="roundRect">
            <a:avLst>
              <a:gd name="adj" fmla="val 5517"/>
            </a:avLst>
          </a:prstGeom>
          <a:solidFill>
            <a:srgbClr val="FFFFFF"/>
          </a:solidFill>
          <a:ln w="9525">
            <a:solidFill>
              <a:srgbClr val="DCE4EF"/>
            </a:solidFill>
            <a:prstDash val="solid"/>
          </a:ln>
          <a:effectLst>
            <a:outerShdw blurRad="76200" dist="25400" dir="5400000" algn="bl" rotWithShape="0">
              <a:srgbClr val="000000">
                <a:alpha val="10000"/>
              </a:srgbClr>
            </a:outerShdw>
          </a:effectLst>
        </p:spPr>
        <p:txBody>
          <a:bodyPr/>
          <a:lstStyle/>
          <a:p>
            <a:endParaRPr lang="en-IN"/>
          </a:p>
        </p:txBody>
      </p:sp>
      <p:sp>
        <p:nvSpPr>
          <p:cNvPr id="17" name="Text 12"/>
          <p:cNvSpPr txBox="1"/>
          <p:nvPr/>
        </p:nvSpPr>
        <p:spPr>
          <a:xfrm>
            <a:off x="6254496" y="3429000"/>
            <a:ext cx="2423160" cy="1188720"/>
          </a:xfrm>
          <a:prstGeom prst="rect">
            <a:avLst/>
          </a:prstGeom>
          <a:noFill/>
          <a:ln/>
        </p:spPr>
        <p:txBody>
          <a:bodyPr wrap="square" lIns="0" tIns="0" rIns="0" bIns="0" rtlCol="0" anchor="t"/>
          <a:lstStyle/>
          <a:p>
            <a:pPr marL="0" indent="0">
              <a:spcAft>
                <a:spcPts val="300"/>
              </a:spcAft>
              <a:buNone/>
            </a:pPr>
            <a:r>
              <a:rPr lang="en-US" sz="1200" b="1" dirty="0">
                <a:solidFill>
                  <a:srgbClr val="0B1F3A"/>
                </a:solidFill>
                <a:latin typeface="Calibri" pitchFamily="34" charset="0"/>
                <a:ea typeface="Calibri" pitchFamily="34" charset="-122"/>
                <a:cs typeface="Calibri" pitchFamily="34" charset="-120"/>
              </a:rPr>
              <a:t>Why KNN?</a:t>
            </a:r>
            <a:endParaRPr lang="en-US" sz="1200" dirty="0"/>
          </a:p>
          <a:p>
            <a:pPr marL="0" indent="0">
              <a:buNone/>
            </a:pPr>
            <a:r>
              <a:rPr lang="en-US" sz="1100" dirty="0">
                <a:solidFill>
                  <a:srgbClr val="1B2A41"/>
                </a:solidFill>
                <a:latin typeface="Calibri" pitchFamily="34" charset="0"/>
                <a:ea typeface="Calibri" pitchFamily="34" charset="-122"/>
                <a:cs typeface="Calibri" pitchFamily="34" charset="-120"/>
              </a:rPr>
              <a:t>Highest combined score (0.6 x F1 + 0.4 x CV) = 0.6073, chosen on F1 and CV, not accuracy alone.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 &amp; Business Recommendations</a:t>
            </a:r>
            <a:endParaRPr lang="en-US" sz="2800" dirty="0"/>
          </a:p>
        </p:txBody>
      </p:sp>
      <p:sp>
        <p:nvSpPr>
          <p:cNvPr id="4" name="Shape 1"/>
          <p:cNvSpPr/>
          <p:nvPr/>
        </p:nvSpPr>
        <p:spPr>
          <a:xfrm>
            <a:off x="457200" y="1005840"/>
            <a:ext cx="3931920" cy="2926080"/>
          </a:xfrm>
          <a:prstGeom prst="roundRect">
            <a:avLst>
              <a:gd name="adj" fmla="val 2500"/>
            </a:avLst>
          </a:prstGeom>
          <a:solidFill>
            <a:srgbClr val="16325C"/>
          </a:solidFill>
          <a:ln w="9525">
            <a:solidFill>
              <a:srgbClr val="16325C"/>
            </a:solidFill>
            <a:prstDash val="solid"/>
          </a:ln>
          <a:effectLst>
            <a:outerShdw blurRad="76200" dist="25400" dir="5400000" algn="bl" rotWithShape="0">
              <a:srgbClr val="000000">
                <a:alpha val="10000"/>
              </a:srgbClr>
            </a:outerShdw>
          </a:effectLst>
        </p:spPr>
        <p:txBody>
          <a:bodyPr/>
          <a:lstStyle/>
          <a:p>
            <a:endParaRPr lang="en-IN"/>
          </a:p>
        </p:txBody>
      </p:sp>
      <p:sp>
        <p:nvSpPr>
          <p:cNvPr id="5" name="Text 2"/>
          <p:cNvSpPr txBox="1"/>
          <p:nvPr/>
        </p:nvSpPr>
        <p:spPr>
          <a:xfrm>
            <a:off x="640080" y="1143000"/>
            <a:ext cx="3566160" cy="2697480"/>
          </a:xfrm>
          <a:prstGeom prst="rect">
            <a:avLst/>
          </a:prstGeom>
          <a:noFill/>
          <a:ln/>
        </p:spPr>
        <p:txBody>
          <a:bodyPr wrap="square" lIns="0" tIns="0" rIns="0" bIns="0" rtlCol="0" anchor="t"/>
          <a:lstStyle/>
          <a:p>
            <a:pPr marL="0" indent="0">
              <a:spcAft>
                <a:spcPts val="500"/>
              </a:spcAft>
              <a:buNone/>
            </a:pPr>
            <a:r>
              <a:rPr lang="en-US" sz="1500" b="1" dirty="0">
                <a:solidFill>
                  <a:srgbClr val="9FE7DE"/>
                </a:solidFill>
                <a:latin typeface="Calibri" pitchFamily="34" charset="0"/>
                <a:ea typeface="Calibri" pitchFamily="34" charset="-122"/>
                <a:cs typeface="Calibri" pitchFamily="34" charset="-120"/>
              </a:rPr>
              <a:t>What we covered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Churn prediction: supervised classification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Data preprocessing and EDA</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KNN, Decision Tree, Random Forest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Bagging, AdaBoost, Gradient Boosting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Evaluation: F1, CV, confusion matrix, ROC</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Final model: KNN (F1 0.6512)</a:t>
            </a:r>
            <a:endParaRPr lang="en-US" sz="1200" dirty="0"/>
          </a:p>
        </p:txBody>
      </p:sp>
      <p:sp>
        <p:nvSpPr>
          <p:cNvPr id="6" name="Shape 3"/>
          <p:cNvSpPr/>
          <p:nvPr/>
        </p:nvSpPr>
        <p:spPr>
          <a:xfrm>
            <a:off x="4572000" y="1005840"/>
            <a:ext cx="4114800" cy="2926080"/>
          </a:xfrm>
          <a:prstGeom prst="roundRect">
            <a:avLst>
              <a:gd name="adj" fmla="val 2500"/>
            </a:avLst>
          </a:prstGeom>
          <a:solidFill>
            <a:srgbClr val="16325C"/>
          </a:solidFill>
          <a:ln w="9525">
            <a:solidFill>
              <a:srgbClr val="16325C"/>
            </a:solidFill>
            <a:prstDash val="solid"/>
          </a:ln>
          <a:effectLst>
            <a:outerShdw blurRad="76200" dist="25400" dir="5400000" algn="bl" rotWithShape="0">
              <a:srgbClr val="000000">
                <a:alpha val="10000"/>
              </a:srgbClr>
            </a:outerShdw>
          </a:effectLst>
        </p:spPr>
        <p:txBody>
          <a:bodyPr/>
          <a:lstStyle/>
          <a:p>
            <a:endParaRPr lang="en-IN"/>
          </a:p>
        </p:txBody>
      </p:sp>
      <p:sp>
        <p:nvSpPr>
          <p:cNvPr id="7" name="Text 4"/>
          <p:cNvSpPr txBox="1"/>
          <p:nvPr/>
        </p:nvSpPr>
        <p:spPr>
          <a:xfrm>
            <a:off x="4754880" y="1143000"/>
            <a:ext cx="3749040" cy="2697480"/>
          </a:xfrm>
          <a:prstGeom prst="rect">
            <a:avLst/>
          </a:prstGeom>
          <a:noFill/>
          <a:ln/>
        </p:spPr>
        <p:txBody>
          <a:bodyPr wrap="square" lIns="0" tIns="0" rIns="0" bIns="0" rtlCol="0" anchor="t"/>
          <a:lstStyle/>
          <a:p>
            <a:pPr marL="0" indent="0">
              <a:spcAft>
                <a:spcPts val="500"/>
              </a:spcAft>
              <a:buNone/>
            </a:pPr>
            <a:r>
              <a:rPr lang="en-US" sz="1500" b="1" dirty="0">
                <a:solidFill>
                  <a:srgbClr val="9FE7DE"/>
                </a:solidFill>
                <a:latin typeface="Calibri" pitchFamily="34" charset="0"/>
                <a:ea typeface="Calibri" pitchFamily="34" charset="-122"/>
                <a:cs typeface="Calibri" pitchFamily="34" charset="-120"/>
              </a:rPr>
              <a:t>Recommendations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Target high-risk customers with retention campaigns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Improve customer satisfaction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Monitor customers with frequent support calls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Review contract types and pricing linked to churn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Run the model regularly to spot new risks</a:t>
            </a:r>
            <a:endParaRPr lang="en-US" sz="1200" dirty="0"/>
          </a:p>
        </p:txBody>
      </p:sp>
      <p:sp>
        <p:nvSpPr>
          <p:cNvPr id="8" name="Text 5"/>
          <p:cNvSpPr txBox="1"/>
          <p:nvPr/>
        </p:nvSpPr>
        <p:spPr>
          <a:xfrm>
            <a:off x="457200" y="4069080"/>
            <a:ext cx="822960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2153</Words>
  <Application>Microsoft Office PowerPoint</Application>
  <PresentationFormat>On-screen Show (16:9)</PresentationFormat>
  <Paragraphs>268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Using Supervised Machine Learning</dc:title>
  <dc:subject>PptxGenJS Presentation</dc:subject>
  <dc:creator>PptxGenJS</dc:creator>
  <cp:lastModifiedBy>Koteswara Rao Dhanisiri</cp:lastModifiedBy>
  <cp:revision>2</cp:revision>
  <dcterms:created xsi:type="dcterms:W3CDTF">2026-09-28T14:41:56Z</dcterms:created>
  <dcterms:modified xsi:type="dcterms:W3CDTF">2026-09-28T15:13:19Z</dcterms:modified>
</cp:coreProperties>
</file>