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  <ns0:embeddedFont>
      <ns0:font typeface="Space Grotesk"/>
      <ns0:bold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ca66ca80-c62c-49f5-b269-c2be9f8b8e3b.fntdata" /><ns0:Relationship Id="rIdFont20" Type="http://schemas.openxmlformats.org/officeDocument/2006/relationships/font" Target="fonts/8f73c319-2f2b-428b-bca3-396af1a58274.fntdata" /><ns0:Relationship Id="rIdFont21" Type="http://schemas.openxmlformats.org/officeDocument/2006/relationships/font" Target="fonts/67ed044e-dd04-43a3-8957-58c5b66d026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036218"/>
            <a:ext cx="10972800" cy="742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036218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43700" y="4455318"/>
            <a:ext cx="1943100" cy="323850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39200" y="4455318"/>
            <a:ext cx="1009650" cy="323850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01250" y="4455318"/>
            <a:ext cx="1581150" cy="323850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78831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2536031"/>
            <a:ext cx="11582400" cy="5476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b="1" sz="3750" i="0" u="none">
                <a:solidFill>
                  <a:srgbClr val="FFFFFF"/>
                </a:solidFill>
                <a:latin typeface="Space Grotesk"/>
              </a:rPr>
              <a:t>E-Commerce Dataset Using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274218"/>
            <a:ext cx="9525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lus Jakarta Sans"/>
              </a:rPr>
              <a:t>Predicting Order Returns and Forecasting Net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126456"/>
            <a:ext cx="364926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EA5E9"/>
                </a:solidFill>
                <a:latin typeface="Plus Jakarta Sans"/>
              </a:rPr>
              <a:t>E-COMMERCE CUSTOMER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350543"/>
            <a:ext cx="32265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D Koteswara Rao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607718"/>
            <a:ext cx="3226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Data Science &amp; Machine Learning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6100" y="4531518"/>
            <a:ext cx="17335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Classification +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600" y="4531518"/>
            <a:ext cx="800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scikit-learn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53650" y="4531518"/>
            <a:ext cx="1371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7 Algorithms per Task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340893"/>
            <a:ext cx="10972800" cy="118110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33500"/>
            <a:ext cx="2072580" cy="1626393"/>
          </a:xfrm>
          <a:prstGeom prst="roundRect">
            <a:avLst>
              <a:gd name="adj" fmla="val 58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34580" y="1333500"/>
            <a:ext cx="2072580" cy="1626393"/>
          </a:xfrm>
          <a:prstGeom prst="roundRect">
            <a:avLst>
              <a:gd name="adj" fmla="val 58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59560" y="1333500"/>
            <a:ext cx="2072580" cy="1626393"/>
          </a:xfrm>
          <a:prstGeom prst="roundRect">
            <a:avLst>
              <a:gd name="adj" fmla="val 58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84541" y="1333500"/>
            <a:ext cx="2072580" cy="1626393"/>
          </a:xfrm>
          <a:prstGeom prst="roundRect">
            <a:avLst>
              <a:gd name="adj" fmla="val 58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521" y="1333500"/>
            <a:ext cx="2072580" cy="1626393"/>
          </a:xfrm>
          <a:prstGeom prst="roundRect">
            <a:avLst>
              <a:gd name="adj" fmla="val 58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340893"/>
            <a:ext cx="38100" cy="1181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PROBLEM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Project Overview &amp; Dual Modeling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569493"/>
            <a:ext cx="113157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Space Grotesk"/>
              </a:rPr>
              <a:t>Two ML Problems, One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1533525"/>
            <a:ext cx="20906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1828800"/>
            <a:ext cx="219519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Space Grotesk"/>
              </a:rPr>
              <a:t>Data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2066925"/>
            <a:ext cx="176778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Load and inspect the e-commerce order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4605" y="1533525"/>
            <a:ext cx="20906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4605" y="1828800"/>
            <a:ext cx="219519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Space Grotesk"/>
              </a:rPr>
              <a:t>Data 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4605" y="2066925"/>
            <a:ext cx="176778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Remove duplicates, engineer date features, fix nulls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9585" y="1533525"/>
            <a:ext cx="20906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9585" y="1828800"/>
            <a:ext cx="219519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Space Grotesk"/>
              </a:rPr>
              <a:t>EDA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585" y="2066925"/>
            <a:ext cx="176778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Histograms, box plots, and correlation heatmaps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4566" y="1533525"/>
            <a:ext cx="20906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4566" y="1828800"/>
            <a:ext cx="219519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Space Grotesk"/>
              </a:rPr>
              <a:t>Modeling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4566" y="2066925"/>
            <a:ext cx="176778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7 classification + 6 regression algorithms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9546" y="1533525"/>
            <a:ext cx="20906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9546" y="1828800"/>
            <a:ext cx="219519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Space Grotesk"/>
              </a:rPr>
              <a:t>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9546" y="2066925"/>
            <a:ext cx="1767780" cy="692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Accuracy/F1 for classification, MAE/RMSE/R² for 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" y="3902868"/>
            <a:ext cx="6310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300" y="4121943"/>
            <a:ext cx="6310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Predict whether an order is returned, using target variable 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Return_Status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5550" y="3902868"/>
            <a:ext cx="58864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Regression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5550" y="4121943"/>
            <a:ext cx="58864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Predict the continuous order value, using target variable 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Net_Sales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71600"/>
            <a:ext cx="257175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1371600"/>
            <a:ext cx="257175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371600"/>
            <a:ext cx="257175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1371600"/>
            <a:ext cx="257175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200400"/>
            <a:ext cx="2600325" cy="1214437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0425" y="3200400"/>
            <a:ext cx="2600325" cy="1214437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0" y="3200400"/>
            <a:ext cx="2600325" cy="1214437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82075" y="3200400"/>
            <a:ext cx="2600325" cy="1214437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DATA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Dataset Snapshot &amp; Feature Taxonomy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828925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Key Feature 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8162" y="1571625"/>
            <a:ext cx="2714625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0F172A"/>
                </a:solidFill>
                <a:latin typeface="Plus Jakarta Sans"/>
              </a:rPr>
              <a:t>3,055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162" y="2114550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Raw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8512" y="1571625"/>
            <a:ext cx="2714625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0F172A"/>
                </a:solidFill>
                <a:latin typeface="Plus Jakarta Sans"/>
              </a:rPr>
              <a:t>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8512" y="2114550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Original 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8862" y="1571625"/>
            <a:ext cx="2714625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EF4444"/>
                </a:solidFill>
                <a:latin typeface="Plus Jakarta Sans"/>
              </a:rPr>
              <a:t>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8862" y="2114550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Duplicate Rows Found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9212" y="1571625"/>
            <a:ext cx="2714625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0F172A"/>
                </a:solidFill>
                <a:latin typeface="Plus Jakarta Sans"/>
              </a:rPr>
              <a:t>3,005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9212" y="2114550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Clean Rows Modeled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3400425"/>
            <a:ext cx="2750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Order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3657600"/>
            <a:ext cx="229552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Category, Product_Name, Quantity, Unit_Price, Discount_Pct, Sales_Channel, Payment_Method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450" y="3400425"/>
            <a:ext cx="2750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366F1"/>
                </a:solidFill>
                <a:latin typeface="Plus Jakarta Sans"/>
              </a:rPr>
              <a:t>Customer 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450" y="3657600"/>
            <a:ext cx="229552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Customer_Age, Customer_Segment, City, Region, Customer_Loyalty_Points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275" y="3400425"/>
            <a:ext cx="2750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275" y="3657600"/>
            <a:ext cx="229552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Website_Session_Minutes, Items_Viewed, Previous_Orders, Customer_Satisfaction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2100" y="3400425"/>
            <a:ext cx="2750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Financials &amp; Targets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2100" y="3657600"/>
            <a:ext cx="22955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Gross_Amount, Discount_Amount, Net_Sales, Profit, Return_Status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88049" y="1295400"/>
            <a:ext cx="5994350" cy="5105400"/>
          </a:xfrm>
          <a:prstGeom prst="roundRect">
            <a:avLst>
              <a:gd name="adj" fmla="val 223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295400"/>
            <a:ext cx="4749849" cy="1190625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638425"/>
            <a:ext cx="4749849" cy="1190625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1476375"/>
            <a:ext cx="180975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2819400"/>
            <a:ext cx="18097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549" y="1514475"/>
            <a:ext cx="104775" cy="114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QUALITY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Data Cleaning &amp; Notebook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8549" y="1857375"/>
            <a:ext cx="5708600" cy="2600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43F5E"/>
                </a:solidFill>
                <a:latin typeface="monospace"/>
              </a:rPr>
              <a:t>import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 pandas 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as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 pd 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import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 numpy 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as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 np </a:t>
            </a:r>
            <a:r>
              <a:rPr b="0" sz="975" i="0" u="none">
                <a:solidFill>
                  <a:srgbClr val="64748B"/>
                </a:solidFill>
                <a:latin typeface="monospace"/>
              </a:rPr>
              <a:t># Load and inspect dataset head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 df = pd.read_csv(</a:t>
            </a:r>
            <a:r>
              <a:rPr b="0" sz="975" i="0" u="none">
                <a:solidFill>
                  <a:srgbClr val="A3E635"/>
                </a:solidFill>
                <a:latin typeface="monospace"/>
              </a:rPr>
              <a:t>"ecommerce_orders.csv"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) df.drop_duplicates(inplace=</a:t>
            </a:r>
            <a:r>
              <a:rPr b="0" sz="975" i="0" u="none">
                <a:solidFill>
                  <a:srgbClr val="F59E0B"/>
                </a:solidFill>
                <a:latin typeface="monospace"/>
              </a:rPr>
              <a:t>True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) </a:t>
            </a:r>
            <a:r>
              <a:rPr b="0" sz="975" i="0" u="none">
                <a:solidFill>
                  <a:srgbClr val="64748B"/>
                </a:solidFill>
                <a:latin typeface="monospace"/>
              </a:rPr>
              <a:t># Date feature engineering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 df[</a:t>
            </a:r>
            <a:r>
              <a:rPr b="0" sz="975" i="0" u="none">
                <a:solidFill>
                  <a:srgbClr val="A3E635"/>
                </a:solidFill>
                <a:latin typeface="monospace"/>
              </a:rPr>
              <a:t>'Order_Date'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] = pd.to_datetime(df[</a:t>
            </a:r>
            <a:r>
              <a:rPr b="0" sz="975" i="0" u="none">
                <a:solidFill>
                  <a:srgbClr val="A3E635"/>
                </a:solidFill>
                <a:latin typeface="monospace"/>
              </a:rPr>
              <a:t>'Order_Date'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]) df[</a:t>
            </a:r>
            <a:r>
              <a:rPr b="0" sz="975" i="0" u="none">
                <a:solidFill>
                  <a:srgbClr val="A3E635"/>
                </a:solidFill>
                <a:latin typeface="monospace"/>
              </a:rPr>
              <a:t>'Order_Year'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] = df[</a:t>
            </a:r>
            <a:r>
              <a:rPr b="0" sz="975" i="0" u="none">
                <a:solidFill>
                  <a:srgbClr val="A3E635"/>
                </a:solidFill>
                <a:latin typeface="monospace"/>
              </a:rPr>
              <a:t>'Order_Date'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].dt.year df[</a:t>
            </a:r>
            <a:r>
              <a:rPr b="0" sz="975" i="0" u="none">
                <a:solidFill>
                  <a:srgbClr val="A3E635"/>
                </a:solidFill>
                <a:latin typeface="monospace"/>
              </a:rPr>
              <a:t>'Order_Month'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] = df[</a:t>
            </a:r>
            <a:r>
              <a:rPr b="0" sz="975" i="0" u="none">
                <a:solidFill>
                  <a:srgbClr val="A3E635"/>
                </a:solidFill>
                <a:latin typeface="monospace"/>
              </a:rPr>
              <a:t>'Order_Date'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].dt.month </a:t>
            </a:r>
            <a:r>
              <a:rPr b="0" sz="975" i="0" u="none">
                <a:solidFill>
                  <a:srgbClr val="64748B"/>
                </a:solidFill>
                <a:latin typeface="monospace"/>
              </a:rPr>
              <a:t># Drop rows with null targets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 df.dropna(subset=[</a:t>
            </a:r>
            <a:r>
              <a:rPr b="0" sz="975" i="0" u="none">
                <a:solidFill>
                  <a:srgbClr val="A3E635"/>
                </a:solidFill>
                <a:latin typeface="monospace"/>
              </a:rPr>
              <a:t>'Net_Sales'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, </a:t>
            </a:r>
            <a:r>
              <a:rPr b="0" sz="975" i="0" u="none">
                <a:solidFill>
                  <a:srgbClr val="A3E635"/>
                </a:solidFill>
                <a:latin typeface="monospace"/>
              </a:rPr>
              <a:t>'Return_Status'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], inplace=</a:t>
            </a:r>
            <a:r>
              <a:rPr b="0" sz="975" i="0" u="none">
                <a:solidFill>
                  <a:srgbClr val="F59E0B"/>
                </a:solidFill>
                <a:latin typeface="monospace"/>
              </a:rPr>
              <a:t>True</a:t>
            </a:r>
            <a:r>
              <a:rPr b="0" sz="975" i="0" u="none">
                <a:solidFill>
                  <a:srgbClr val="F43F5E"/>
                </a:solidFill>
                <a:latin typeface="monospace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1762125"/>
            <a:ext cx="57591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Duplicates &amp; Missing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2000250"/>
            <a:ext cx="44831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Dropped 50 exact duplicates and handled missing values observed in financial attributes (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Gross_Amount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Net_Sales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) and 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Customer_Age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3105150"/>
            <a:ext cx="57591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Date Extraction &amp; Leakage Prevention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3343275"/>
            <a:ext cx="44831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Decomposed 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Order_Date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into temporal features and excluded post-order targets (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Profit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Gross_Amount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) to prevent target leakage.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8549" y="1485900"/>
            <a:ext cx="2003040" cy="17145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monospace"/>
              </a:rPr>
              <a:t>notebook_data_prep.py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43170" y="1485900"/>
            <a:ext cx="83447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monospace"/>
              </a:rPr>
              <a:t>In [1-3]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0275" y="2590800"/>
            <a:ext cx="5572125" cy="25146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47875"/>
            <a:ext cx="5095875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609975"/>
            <a:ext cx="5095875" cy="942975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705350"/>
            <a:ext cx="5095875" cy="9429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8400" y="2828925"/>
            <a:ext cx="2471737" cy="942975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72537" y="2828925"/>
            <a:ext cx="2471737" cy="942975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48400" y="3924300"/>
            <a:ext cx="2471737" cy="942975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72537" y="3924300"/>
            <a:ext cx="2471737" cy="942975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609975"/>
            <a:ext cx="38100" cy="9429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4705350"/>
            <a:ext cx="38100" cy="94297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2225" y="3552825"/>
            <a:ext cx="414337" cy="9525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4662" y="3409950"/>
            <a:ext cx="414337" cy="238125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77100" y="3171825"/>
            <a:ext cx="414337" cy="476250"/>
          </a:xfrm>
          <a:prstGeom prst="roundRect">
            <a:avLst>
              <a:gd name="adj" fmla="val 4597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29537" y="3362325"/>
            <a:ext cx="414337" cy="285750"/>
          </a:xfrm>
          <a:prstGeom prst="roundRect">
            <a:avLst>
              <a:gd name="adj" fmla="val 6666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1975" y="3529012"/>
            <a:ext cx="414337" cy="119062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96362" y="3171825"/>
            <a:ext cx="414337" cy="476250"/>
          </a:xfrm>
          <a:prstGeom prst="roundRect">
            <a:avLst>
              <a:gd name="adj" fmla="val 4597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48800" y="3481387"/>
            <a:ext cx="414337" cy="166687"/>
          </a:xfrm>
          <a:prstGeom prst="roundRect">
            <a:avLst>
              <a:gd name="adj" fmla="val 1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01237" y="3576637"/>
            <a:ext cx="414337" cy="71437"/>
          </a:xfrm>
          <a:prstGeom prst="roundRect">
            <a:avLst>
              <a:gd name="adj" fmla="val 26666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353675" y="3609975"/>
            <a:ext cx="414337" cy="381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806112" y="3633787"/>
            <a:ext cx="414337" cy="14287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72225" y="4695825"/>
            <a:ext cx="414337" cy="47625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24662" y="4600575"/>
            <a:ext cx="414337" cy="142875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77100" y="4314825"/>
            <a:ext cx="414337" cy="428625"/>
          </a:xfrm>
          <a:prstGeom prst="roundRect">
            <a:avLst>
              <a:gd name="adj" fmla="val 4597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29537" y="4433887"/>
            <a:ext cx="414337" cy="309562"/>
          </a:xfrm>
          <a:prstGeom prst="roundRect">
            <a:avLst>
              <a:gd name="adj" fmla="val 6153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81975" y="4672012"/>
            <a:ext cx="414337" cy="71437"/>
          </a:xfrm>
          <a:prstGeom prst="roundRect">
            <a:avLst>
              <a:gd name="adj" fmla="val 26666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96362" y="4338637"/>
            <a:ext cx="414337" cy="404812"/>
          </a:xfrm>
          <a:prstGeom prst="roundRect">
            <a:avLst>
              <a:gd name="adj" fmla="val 4705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48800" y="4457700"/>
            <a:ext cx="414337" cy="285750"/>
          </a:xfrm>
          <a:prstGeom prst="roundRect">
            <a:avLst>
              <a:gd name="adj" fmla="val 6666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01237" y="4600575"/>
            <a:ext cx="414337" cy="142875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353675" y="4672012"/>
            <a:ext cx="414337" cy="71437"/>
          </a:xfrm>
          <a:prstGeom prst="roundRect">
            <a:avLst>
              <a:gd name="adj" fmla="val 26666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806112" y="4719637"/>
            <a:ext cx="414337" cy="2381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NUMERICAL DISTRIBUTIONS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Exploratory Data Analysis — Feature Shapes &amp; Skew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725" y="2286000"/>
            <a:ext cx="606325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22 Numerical Columns Analyzed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2581275"/>
            <a:ext cx="47148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All continuous metrics inspected via histograms to evaluate distribution shape, degree of skewness, and presence of extreme outliers prior to scaling.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00475"/>
            <a:ext cx="58459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Plus Jakarta Sans"/>
              </a:rPr>
              <a:t>Financial Fields Right-Skewed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019550"/>
            <a:ext cx="47720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Net_Sales, Gross_Amount, and Profit exhibit long right-side tails corresponding to high-value bulk orders.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895850"/>
            <a:ext cx="58459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Engagement Ratings Clustering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5114925"/>
            <a:ext cx="47720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Customer_Rating and Delivery_Rating scores concentrate tightly in mid-to-high numeric ranges (3.0–4.5).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2225" y="2952750"/>
            <a:ext cx="278010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Customer_Age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6362" y="2952750"/>
            <a:ext cx="278010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Net_Sales (Skewed)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2225" y="4048125"/>
            <a:ext cx="278010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Customer_Rating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96362" y="4048125"/>
            <a:ext cx="278010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Website_Session_Mins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2986087"/>
            <a:ext cx="9144000" cy="1524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24000" y="3529012"/>
            <a:ext cx="9144000" cy="1524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24000" y="4071937"/>
            <a:ext cx="9144000" cy="1524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4000" y="4614862"/>
            <a:ext cx="9144000" cy="1524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24000" y="5157787"/>
            <a:ext cx="9144000" cy="1524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4000" y="2986087"/>
            <a:ext cx="8961090" cy="1524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24000" y="3529012"/>
            <a:ext cx="8778180" cy="1524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24000" y="4071937"/>
            <a:ext cx="7497960" cy="1524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24000" y="4614862"/>
            <a:ext cx="2925960" cy="1524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24000" y="5157787"/>
            <a:ext cx="457200" cy="1524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CORRELATION HEATMAP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Feature Correlation &amp; Target Leakage Identification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" y="2424112"/>
            <a:ext cx="10668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Key Linear Correlation Strength with Net_Sales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" y="2747962"/>
            <a:ext cx="24169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Estimated_Cost (r = +0.98)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9700" y="2747962"/>
            <a:ext cx="2047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F4444"/>
                </a:solidFill>
                <a:latin typeface="Plus Jakarta Sans"/>
              </a:rPr>
              <a:t>Target Leakage — Dropped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" y="3290887"/>
            <a:ext cx="23217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Gross_Amount (r = +0.96)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9700" y="3290887"/>
            <a:ext cx="2047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F4444"/>
                </a:solidFill>
                <a:latin typeface="Plus Jakarta Sans"/>
              </a:rPr>
              <a:t>Target Leakage — Dropped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" y="3833812"/>
            <a:ext cx="190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Unit_Price (r = +0.82)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1700" y="3833812"/>
            <a:ext cx="11620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Valid Predictor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" y="4376737"/>
            <a:ext cx="1750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Quantity (r = +0.32)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1700" y="4376737"/>
            <a:ext cx="11620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Valid Predictor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" y="4919662"/>
            <a:ext cx="33456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Website_Session_Minutes (r = +0.02)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9725" y="4919662"/>
            <a:ext cx="1797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Weak Linear Correlation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0275" y="2954833"/>
            <a:ext cx="5572125" cy="1862732"/>
          </a:xfrm>
          <a:prstGeom prst="roundRect">
            <a:avLst>
              <a:gd name="adj" fmla="val 6136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76525"/>
            <a:ext cx="5019675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81450"/>
            <a:ext cx="5019675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525" y="4367212"/>
            <a:ext cx="428625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CLASSIFICATION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Return_Status Distribution &amp; Class Imbalance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231058"/>
            <a:ext cx="5905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Space Grotesk"/>
              </a:rPr>
              <a:t>Imbalance Handling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564433"/>
            <a:ext cx="511492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881337"/>
                </a:solidFill>
                <a:latin typeface="Plus Jakarta Sans"/>
              </a:rPr>
              <a:t>Severe 86.5% vs 13.5% class imbalance means naive classifiers achieve high accuracy simply by predicting "No Return".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4105275"/>
            <a:ext cx="5114925" cy="436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881337"/>
                </a:solidFill>
                <a:latin typeface="Plus Jakarta Sans"/>
              </a:rPr>
              <a:t>Mitigation:</a:t>
            </a:r>
            <a:r>
              <a:rPr b="0" sz="1050" i="0" u="none">
                <a:solidFill>
                  <a:srgbClr val="881337"/>
                </a:solidFill>
                <a:latin typeface="Plus Jakarta Sans"/>
              </a:rPr>
              <a:t> Incorporated </a:t>
            </a:r>
            <a:r>
              <a:rPr b="0" sz="1050" i="0" u="none">
                <a:solidFill>
                  <a:srgbClr val="881337"/>
                </a:solidFill>
                <a:latin typeface="Plus Jakarta Sans"/>
              </a:rPr>
              <a:t>class_weight="balanced"</a:t>
            </a:r>
            <a:r>
              <a:rPr b="0" sz="1050" i="0" u="none">
                <a:solidFill>
                  <a:srgbClr val="881337"/>
                </a:solidFill>
                <a:latin typeface="Plus Jakarta Sans"/>
              </a:rPr>
              <a:t> across all classifiers and emphasized Precision, Recall, and F1-Score over raw accuracy.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914650"/>
            <a:ext cx="2107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No Return (Kept Orders)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124200"/>
            <a:ext cx="2107406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2,598 </a:t>
            </a:r>
            <a:r>
              <a:rPr b="0" sz="1350" i="0" u="none">
                <a:solidFill>
                  <a:srgbClr val="64748B"/>
                </a:solidFill>
                <a:latin typeface="Plus Jakarta Sans"/>
              </a:rPr>
              <a:t>(86.5%)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219575"/>
            <a:ext cx="1666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Returned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429125"/>
            <a:ext cx="166687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EF4444"/>
                </a:solidFill>
                <a:latin typeface="Plus Jakarta Sans"/>
              </a:rPr>
              <a:t>407 </a:t>
            </a:r>
            <a:r>
              <a:rPr b="0" sz="1350" i="0" u="none">
                <a:solidFill>
                  <a:srgbClr val="64748B"/>
                </a:solidFill>
                <a:latin typeface="Plus Jakarta Sans"/>
              </a:rPr>
              <a:t>(13.5%)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34075" y="2786062"/>
            <a:ext cx="5648325" cy="2162175"/>
          </a:xfrm>
          <a:prstGeom prst="roundRect">
            <a:avLst>
              <a:gd name="adj" fmla="val 528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86000"/>
            <a:ext cx="5019675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390900"/>
            <a:ext cx="5019675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495800"/>
            <a:ext cx="5019675" cy="9525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77087" y="3786187"/>
            <a:ext cx="19050" cy="1905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72337" y="3871912"/>
            <a:ext cx="381000" cy="19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29537" y="3595687"/>
            <a:ext cx="762000" cy="571500"/>
          </a:xfrm>
          <a:prstGeom prst="roundRect">
            <a:avLst>
              <a:gd name="adj" fmla="val 6666"/>
            </a:avLst>
          </a:prstGeom>
          <a:solidFill>
            <a:srgbClr val="E0F2FE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67737" y="3871912"/>
            <a:ext cx="1143000" cy="19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86937" y="3786187"/>
            <a:ext cx="19050" cy="1905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01012" y="3614737"/>
            <a:ext cx="19050" cy="5334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96487" y="3843337"/>
            <a:ext cx="76200" cy="762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29837" y="3843337"/>
            <a:ext cx="76200" cy="762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63187" y="3843337"/>
            <a:ext cx="76200" cy="762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REGRESSION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Net_Sales Target Distribution &amp; Outliers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0940" y="3100387"/>
            <a:ext cx="6274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Net_Sales Box Plot Representation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0940" y="4491037"/>
            <a:ext cx="62745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Long upper whisker with distinct high-value outlier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2486025"/>
            <a:ext cx="5774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Distribution Characteristics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2695575"/>
            <a:ext cx="47148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Highly right-skewed revenue distribution with a strong concentration of small orders under ₹5,000 and a long tail extending up to ₹200,000.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3590925"/>
            <a:ext cx="5774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366F1"/>
                </a:solidFill>
                <a:latin typeface="Plus Jakarta Sans"/>
              </a:rPr>
              <a:t>Outlier Impact on Linear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3800475"/>
            <a:ext cx="47148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High-value enterprise transactions act as leverage points that distort standard Ordinary Least Squares (OLS) regression lines.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4695825"/>
            <a:ext cx="5774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5803D"/>
                </a:solidFill>
                <a:latin typeface="Plus Jakarta Sans"/>
              </a:rPr>
              <a:t>Ensemble Advantage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4905375"/>
            <a:ext cx="47148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66534"/>
                </a:solidFill>
                <a:latin typeface="Plus Jakarta Sans"/>
              </a:rPr>
              <a:t>Tree-based ensembles (Random Forest, Gradient Boosting) naturally handle extreme skew without requiring log transformations.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49" y="1257300"/>
            <a:ext cx="4698950" cy="3119437"/>
          </a:xfrm>
          <a:prstGeom prst="roundRect">
            <a:avLst>
              <a:gd name="adj" fmla="val 36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4362" y="2005012"/>
            <a:ext cx="22054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19846" y="2005012"/>
            <a:ext cx="19118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31692" y="2005012"/>
            <a:ext cx="19183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4362" y="2376487"/>
            <a:ext cx="22054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19846" y="2376487"/>
            <a:ext cx="19118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31692" y="2376487"/>
            <a:ext cx="19183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4362" y="2747962"/>
            <a:ext cx="22054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19846" y="2747962"/>
            <a:ext cx="19118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31692" y="2747962"/>
            <a:ext cx="19183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362" y="3119437"/>
            <a:ext cx="22054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19846" y="3119437"/>
            <a:ext cx="19118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1692" y="3119437"/>
            <a:ext cx="19183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362" y="3490912"/>
            <a:ext cx="22054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19846" y="3490912"/>
            <a:ext cx="19118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1692" y="3490912"/>
            <a:ext cx="19183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949" y="1466850"/>
            <a:ext cx="95250" cy="104775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09600" y="1257300"/>
          <a:ext cx="6035723" cy="22479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05483"/>
                <a:gridCol w="1911846"/>
                <a:gridCol w="1918394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Pipeline Step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Classification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Regression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Features Count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32 features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28 features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Train Rows (80%)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2,404 samples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2,404 samples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Test Rows (20%)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601 samples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601 samples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Categorical Encoding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One-Hot Encoding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One-Hot Encoding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Feature Scaling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StandardScaler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StandardScaler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TRAIN / TEST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Feature Preparation &amp; Train-Test Split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3619500"/>
            <a:ext cx="75565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*StandardScaler applies z-score normalization: z = (x − μ) / σ for distance/gradient models.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3949" y="1785937"/>
            <a:ext cx="4413200" cy="2400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43F5E"/>
                </a:solidFill>
                <a:latin typeface="monospace"/>
              </a:rPr>
              <a:t>from</a:t>
            </a:r>
            <a:r>
              <a:rPr b="0" sz="900" i="0" u="none">
                <a:solidFill>
                  <a:srgbClr val="F43F5E"/>
                </a:solidFill>
                <a:latin typeface="monospace"/>
              </a:rPr>
              <a:t> sklearn.model_selection </a:t>
            </a:r>
            <a:r>
              <a:rPr b="0" sz="900" i="0" u="none">
                <a:solidFill>
                  <a:srgbClr val="F43F5E"/>
                </a:solidFill>
                <a:latin typeface="monospace"/>
              </a:rPr>
              <a:t>import</a:t>
            </a:r>
            <a:r>
              <a:rPr b="0" sz="900" i="0" u="none">
                <a:solidFill>
                  <a:srgbClr val="F43F5E"/>
                </a:solidFill>
                <a:latin typeface="monospace"/>
              </a:rPr>
              <a:t> train_test_split </a:t>
            </a:r>
            <a:r>
              <a:rPr b="0" sz="900" i="0" u="none">
                <a:solidFill>
                  <a:srgbClr val="F43F5E"/>
                </a:solidFill>
                <a:latin typeface="monospace"/>
              </a:rPr>
              <a:t>from</a:t>
            </a:r>
            <a:r>
              <a:rPr b="0" sz="900" i="0" u="none">
                <a:solidFill>
                  <a:srgbClr val="F43F5E"/>
                </a:solidFill>
                <a:latin typeface="monospace"/>
              </a:rPr>
              <a:t> sklearn.preprocessing </a:t>
            </a:r>
            <a:r>
              <a:rPr b="0" sz="900" i="0" u="none">
                <a:solidFill>
                  <a:srgbClr val="F43F5E"/>
                </a:solidFill>
                <a:latin typeface="monospace"/>
              </a:rPr>
              <a:t>import</a:t>
            </a:r>
            <a:r>
              <a:rPr b="0" sz="900" i="0" u="none">
                <a:solidFill>
                  <a:srgbClr val="F43F5E"/>
                </a:solidFill>
                <a:latin typeface="monospace"/>
              </a:rPr>
              <a:t> StandardScaler </a:t>
            </a:r>
            <a:r>
              <a:rPr b="0" sz="900" i="0" u="none">
                <a:solidFill>
                  <a:srgbClr val="F43F5E"/>
                </a:solidFill>
                <a:latin typeface="monospace"/>
              </a:rPr>
              <a:t>from</a:t>
            </a:r>
            <a:r>
              <a:rPr b="0" sz="900" i="0" u="none">
                <a:solidFill>
                  <a:srgbClr val="F43F5E"/>
                </a:solidFill>
                <a:latin typeface="monospace"/>
              </a:rPr>
              <a:t> sklearn.linear_model </a:t>
            </a:r>
            <a:r>
              <a:rPr b="0" sz="900" i="0" u="none">
                <a:solidFill>
                  <a:srgbClr val="F43F5E"/>
                </a:solidFill>
                <a:latin typeface="monospace"/>
              </a:rPr>
              <a:t>import</a:t>
            </a:r>
            <a:r>
              <a:rPr b="0" sz="900" i="0" u="none">
                <a:solidFill>
                  <a:srgbClr val="F43F5E"/>
                </a:solidFill>
                <a:latin typeface="monospace"/>
              </a:rPr>
              <a:t> ( LinearRegression, LogisticRegression ) X_train, X_test, y_train, y_test = train_test_split( X, y, test_size=</a:t>
            </a:r>
            <a:r>
              <a:rPr b="0" sz="900" i="0" u="none">
                <a:solidFill>
                  <a:srgbClr val="F59E0B"/>
                </a:solidFill>
                <a:latin typeface="monospace"/>
              </a:rPr>
              <a:t>0.20</a:t>
            </a:r>
            <a:r>
              <a:rPr b="0" sz="900" i="0" u="none">
                <a:solidFill>
                  <a:srgbClr val="F43F5E"/>
                </a:solidFill>
                <a:latin typeface="monospace"/>
              </a:rPr>
              <a:t>, random_state=</a:t>
            </a:r>
            <a:r>
              <a:rPr b="0" sz="900" i="0" u="none">
                <a:solidFill>
                  <a:srgbClr val="F59E0B"/>
                </a:solidFill>
                <a:latin typeface="monospace"/>
              </a:rPr>
              <a:t>42</a:t>
            </a:r>
            <a:r>
              <a:rPr b="0" sz="900" i="0" u="none">
                <a:solidFill>
                  <a:srgbClr val="F43F5E"/>
                </a:solidFill>
                <a:latin typeface="monospace"/>
              </a:rPr>
              <a:t> ) scaler = StandardScaler() X_train_scaled = scaler.fit_transform(X_train) X_test_scaled = scaler.transform(X_test)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3949" y="1447800"/>
            <a:ext cx="1683804" cy="157162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b="0" sz="825" i="0" u="none">
                <a:solidFill>
                  <a:srgbClr val="94A3B8"/>
                </a:solidFill>
                <a:latin typeface="monospace"/>
              </a:rPr>
              <a:t>sklearn_pipeline.py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4620" y="1447800"/>
            <a:ext cx="663029" cy="1571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b="0" sz="825" i="0" u="none">
                <a:solidFill>
                  <a:srgbClr val="94A3B8"/>
                </a:solidFill>
                <a:latin typeface="monospace"/>
              </a:rPr>
              <a:t>In [2]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4362" y="3038475"/>
            <a:ext cx="33347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49154" y="3038475"/>
            <a:ext cx="23965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45733" y="3038475"/>
            <a:ext cx="2376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21774" y="3038475"/>
            <a:ext cx="1163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85759" y="3038475"/>
            <a:ext cx="16918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4362" y="3457575"/>
            <a:ext cx="33347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49154" y="3457575"/>
            <a:ext cx="23965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45733" y="3457575"/>
            <a:ext cx="2376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21774" y="3457575"/>
            <a:ext cx="1163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85759" y="3457575"/>
            <a:ext cx="16918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362" y="3876675"/>
            <a:ext cx="33347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49154" y="3876675"/>
            <a:ext cx="23965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45733" y="3876675"/>
            <a:ext cx="2376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21774" y="3876675"/>
            <a:ext cx="1163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85759" y="3876675"/>
            <a:ext cx="16918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362" y="4295775"/>
            <a:ext cx="33347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49154" y="4295775"/>
            <a:ext cx="23965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5733" y="4295775"/>
            <a:ext cx="2376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21774" y="4295775"/>
            <a:ext cx="1163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85759" y="4295775"/>
            <a:ext cx="16918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362" y="4714875"/>
            <a:ext cx="33347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49154" y="4714875"/>
            <a:ext cx="23965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45733" y="4714875"/>
            <a:ext cx="2376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21774" y="4714875"/>
            <a:ext cx="1163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85759" y="4714875"/>
            <a:ext cx="16918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362" y="5133975"/>
            <a:ext cx="33347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49154" y="5133975"/>
            <a:ext cx="23965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45733" y="5133975"/>
            <a:ext cx="2376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21774" y="5133975"/>
            <a:ext cx="1163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85759" y="5133975"/>
            <a:ext cx="16918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19109" y="2728912"/>
            <a:ext cx="609600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19109" y="3148012"/>
            <a:ext cx="904875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19109" y="3567112"/>
            <a:ext cx="695325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019109" y="3986212"/>
            <a:ext cx="647700" cy="219075"/>
          </a:xfrm>
          <a:prstGeom prst="roundRect">
            <a:avLst>
              <a:gd name="adj" fmla="val 1739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19109" y="4405312"/>
            <a:ext cx="552450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19109" y="4824412"/>
            <a:ext cx="771525" cy="219075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609600" y="2243137"/>
          <a:ext cx="10963273" cy="29051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334791"/>
                <a:gridCol w="2396579"/>
                <a:gridCol w="2376041"/>
                <a:gridCol w="1163984"/>
                <a:gridCol w="1691878"/>
              </a:tblGrid>
              <a:tr h="415017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Regression Algorithm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MAE (Mean Abs Error)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RMSE (Root Mean Sq)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R² 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501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Linear Regression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₹638.19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₹1,328.22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0.973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501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Decision Tree Regressor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₹689.67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₹2,938.23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0.866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1501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Random Forest Regressor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₹513.62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₹1,340.62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0.972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501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Support Vector Regressor (SVR)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₹3,314.30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₹8,265.88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-0.061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1501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Bagging Regressor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₹519.41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₹1,377.61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0.971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5023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Gradient Boosting Regressor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₹460.13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₹990.74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0.985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REGRESSION BENCHMARK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Predicting Net_Sales — Regressor Benchmark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6248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*</a:t>
            </a:r>
            <a:r>
              <a:rPr b="1" sz="975" i="0" u="none">
                <a:solidFill>
                  <a:srgbClr val="64748B"/>
                </a:solidFill>
                <a:latin typeface="Plus Jakarta Sans"/>
              </a:rPr>
              <a:t>Note: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High R² values across linear/ensemble models occur because core transaction drivers (Unit_Price, Quantity) remain strong direct predictors after leakage removal.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95309" y="2767012"/>
            <a:ext cx="552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Plus Jakarta Sans"/>
              </a:rPr>
              <a:t>Baseline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5309" y="3186112"/>
            <a:ext cx="8477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Plus Jakarta Sans"/>
              </a:rPr>
              <a:t>High Variance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95309" y="3605212"/>
            <a:ext cx="638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Plus Jakarta Sans"/>
              </a:rPr>
              <a:t>Strong Fit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95309" y="4024312"/>
            <a:ext cx="590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91C1C"/>
                </a:solidFill>
                <a:latin typeface="Plus Jakarta Sans"/>
              </a:rPr>
              <a:t>Failed Fit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95309" y="4443412"/>
            <a:ext cx="495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Plus Jakarta Sans"/>
              </a:rPr>
              <a:t>Robust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95309" y="4862512"/>
            <a:ext cx="7143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Plus Jakarta Sans"/>
              </a:rPr>
              <a:t>Best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57412"/>
            <a:ext cx="6568380" cy="3419475"/>
          </a:xfrm>
          <a:prstGeom prst="roundRect">
            <a:avLst>
              <a:gd name="adj" fmla="val 334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20880" y="2584251"/>
            <a:ext cx="4061519" cy="1460896"/>
          </a:xfrm>
          <a:prstGeom prst="roundRect">
            <a:avLst>
              <a:gd name="adj" fmla="val 782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20880" y="4235648"/>
            <a:ext cx="4061519" cy="9144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757487"/>
            <a:ext cx="5882580" cy="2266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REGRESSION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Gradient Boosting Regressor — Actual vs. Predicted Net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395537"/>
            <a:ext cx="761516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Scatter Plot Confirmation (R² = 0.985)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5214937"/>
            <a:ext cx="131445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"/>
              </a:rPr>
              <a:t>Actual Net Sales (₹0)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1105" y="5214937"/>
            <a:ext cx="1785937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"/>
              </a:rPr>
              <a:t>Actual Net Sales (₹200,000)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0905" y="2784276"/>
            <a:ext cx="4471094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5803D"/>
                </a:solidFill>
                <a:latin typeface="Plus Jakarta Sans"/>
              </a:rPr>
              <a:t>0.985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0905" y="3251001"/>
            <a:ext cx="447109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Variance Explained (R²)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0905" y="3498651"/>
            <a:ext cx="3756719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166534"/>
                </a:solidFill>
                <a:latin typeface="Plus Jakarta Sans"/>
              </a:rPr>
              <a:t>Points align tightly with the diagonal reference line across both low and high order value spectrums.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0905" y="4435673"/>
            <a:ext cx="447109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Lowest Overall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0905" y="4645223"/>
            <a:ext cx="375671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Achieves MAE of ₹460.13 and RMSE of ₹990.74, outperforming all other regressor architectures.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3476625"/>
            <a:ext cx="2895600" cy="1714500"/>
          </a:xfrm>
          <a:prstGeom prst="roundRect">
            <a:avLst>
              <a:gd name="adj" fmla="val 666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48200" y="3476625"/>
            <a:ext cx="2895600" cy="1714500"/>
          </a:xfrm>
          <a:prstGeom prst="roundRect">
            <a:avLst>
              <a:gd name="adj" fmla="val 666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0" y="3476625"/>
            <a:ext cx="2895600" cy="1714500"/>
          </a:xfrm>
          <a:prstGeom prst="roundRect">
            <a:avLst>
              <a:gd name="adj" fmla="val 666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3714750"/>
            <a:ext cx="2857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25" y="3714750"/>
            <a:ext cx="2857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42109" y="1666875"/>
            <a:ext cx="5107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EA5E9"/>
                </a:solidFill>
                <a:latin typeface="Plus Jakarta Sans"/>
              </a:rPr>
              <a:t>E-COMMERCE MACHINE LEARNING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5768" y="1990725"/>
            <a:ext cx="3700462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Space Grotesk"/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6546" y="2857500"/>
            <a:ext cx="267890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2125" y="4057650"/>
            <a:ext cx="31753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Space Grotesk"/>
              </a:rPr>
              <a:t>Classification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2125" y="4352925"/>
            <a:ext cx="25146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Bagging and Gradient Boosting reached 86.4% accuracy for return status prediction.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6325" y="3914775"/>
            <a:ext cx="31753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4D399"/>
                </a:solidFill>
                <a:latin typeface="Space Grotesk"/>
              </a:rPr>
              <a:t>Regression Winner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6325" y="4210050"/>
            <a:ext cx="25146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Gradient Boosting Regressor achieved highest precision with R² = 0.985 and MAE ≈ ₹460.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525" y="4057650"/>
            <a:ext cx="31753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BBF24"/>
                </a:solidFill>
                <a:latin typeface="Space Grotesk"/>
              </a:rPr>
              <a:t>Presenter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525" y="4352925"/>
            <a:ext cx="2514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FFFFFF"/>
                </a:solidFill>
                <a:latin typeface="Plus Jakarta Sans"/>
              </a:rPr>
              <a:t>D Koteswara Rao</a:t>
            </a:r>
            <a:r>
              <a:t>
</a:t>
            </a:r>
            <a:r>
              <a:rPr b="0" sz="900" i="0" u="none">
                <a:solidFill>
                  <a:srgbClr val="94A3B8"/>
                </a:solidFill>
                <a:latin typeface="Plus Jakarta Sans"/>
              </a:rPr>
              <a:t>Data Science &amp; 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